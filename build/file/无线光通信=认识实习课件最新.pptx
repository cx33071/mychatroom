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345" r:id="rId3"/>
    <p:sldId id="671" r:id="rId4"/>
    <p:sldId id="572" r:id="rId5"/>
    <p:sldId id="512" r:id="rId6"/>
    <p:sldId id="571" r:id="rId7"/>
    <p:sldId id="537" r:id="rId8"/>
    <p:sldId id="488" r:id="rId9"/>
    <p:sldId id="573" r:id="rId10"/>
    <p:sldId id="574" r:id="rId11"/>
    <p:sldId id="575" r:id="rId12"/>
    <p:sldId id="576" r:id="rId13"/>
    <p:sldId id="577" r:id="rId14"/>
    <p:sldId id="578" r:id="rId15"/>
    <p:sldId id="579" r:id="rId16"/>
    <p:sldId id="580" r:id="rId17"/>
    <p:sldId id="581" r:id="rId18"/>
    <p:sldId id="582" r:id="rId19"/>
    <p:sldId id="583" r:id="rId20"/>
    <p:sldId id="584" r:id="rId21"/>
    <p:sldId id="585" r:id="rId22"/>
    <p:sldId id="586" r:id="rId23"/>
    <p:sldId id="587" r:id="rId24"/>
    <p:sldId id="588" r:id="rId25"/>
    <p:sldId id="589" r:id="rId26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484e086-2fab-4eec-8d4f-96cd76892f06}">
          <p14:sldIdLst>
            <p14:sldId id="345"/>
            <p14:sldId id="671"/>
            <p14:sldId id="572"/>
            <p14:sldId id="512"/>
            <p14:sldId id="571"/>
            <p14:sldId id="537"/>
            <p14:sldId id="488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冯 超林" initials="冯" lastIdx="1" clrIdx="0"/>
  <p:cmAuthor id="2" name="zhangguoqi 张国旗" initials="z张" lastIdx="1" clrIdx="1"/>
  <p:cmAuthor id="3" name="miduoduo" initials="m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FFCC"/>
    <a:srgbClr val="CC99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5" autoAdjust="0"/>
    <p:restoredTop sz="86717" autoAdjust="0"/>
  </p:normalViewPr>
  <p:slideViewPr>
    <p:cSldViewPr snapToGrid="0">
      <p:cViewPr varScale="1">
        <p:scale>
          <a:sx n="74" d="100"/>
          <a:sy n="74" d="100"/>
        </p:scale>
        <p:origin x="174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AD875-A6B4-403E-A8CE-670B12CC15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40C3-E367-4857-9EB8-749AFD69285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  <a:t>第</a:t>
            </a:r>
            <a:fld id="{622A0880-72B4-4631-95E3-09D6F504E6E6}" type="slidenum">
              <a:rPr kumimoji="0" lang="zh-CN" altLang="en-US" sz="9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r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  <a:t>页</a:t>
            </a: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6BA0F-5FE3-460F-A0DF-126C6E5FA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D316C-D01F-47E4-AF5F-3BBE092244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0.jpeg"/><Relationship Id="rId2" Type="http://schemas.openxmlformats.org/officeDocument/2006/relationships/hyperlink" Target="http://china.alibaba.com/img/product/51/51/51/5151513.jpg" TargetMode="Externa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42"/>
          <p:cNvSpPr txBox="1">
            <a:spLocks noChangeArrowheads="1"/>
          </p:cNvSpPr>
          <p:nvPr/>
        </p:nvSpPr>
        <p:spPr bwMode="auto">
          <a:xfrm>
            <a:off x="2438400" y="228600"/>
            <a:ext cx="480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/>
          </a:p>
        </p:txBody>
      </p:sp>
      <p:pic>
        <p:nvPicPr>
          <p:cNvPr id="6147" name="图片 41" descr="西安邮电大学上标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图片 15" descr="内容页一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3375"/>
            <a:ext cx="914400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Box 17"/>
          <p:cNvSpPr txBox="1">
            <a:spLocks noChangeArrowheads="1"/>
          </p:cNvSpPr>
          <p:nvPr/>
        </p:nvSpPr>
        <p:spPr bwMode="auto">
          <a:xfrm>
            <a:off x="1546786" y="4132000"/>
            <a:ext cx="55451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algn="ctr" eaLnBrk="1" latinLnBrk="1" hangingPunct="1">
              <a:spcBef>
                <a:spcPts val="600"/>
              </a:spcBef>
            </a:pPr>
            <a:r>
              <a:rPr lang="zh-CN" altLang="en-US" sz="2800" dirty="0">
                <a:solidFill>
                  <a:srgbClr val="0070C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贺锋涛</a:t>
            </a:r>
            <a:endParaRPr lang="zh-CN" altLang="en-US" sz="2800" dirty="0">
              <a:solidFill>
                <a:srgbClr val="0070C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399711" y="2610033"/>
            <a:ext cx="5839289" cy="935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ctr" fontAlgn="base" latinLnBrk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6000" b="1" dirty="0">
                <a:solidFill>
                  <a:srgbClr val="0070C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无线光通信</a:t>
            </a:r>
            <a:endParaRPr lang="zh-CN" altLang="en-US" sz="6000" b="1" dirty="0">
              <a:solidFill>
                <a:srgbClr val="0070C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159385" y="152400"/>
            <a:ext cx="6430010" cy="485775"/>
          </a:xfrm>
          <a:prstGeom prst="rect">
            <a:avLst/>
          </a:prstGeom>
        </p:spPr>
        <p:txBody>
          <a:bodyPr vert="horz" lIns="76200" tIns="28575" rIns="57150" bIns="28575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marL="342900" indent="-342900" algn="ctr" fontAlgn="base" latinLnBrk="1">
              <a:lnSpc>
                <a:spcPct val="140000"/>
              </a:lnSpc>
              <a:spcBef>
                <a:spcPct val="20000"/>
              </a:spcBef>
              <a:buClrTx/>
              <a:buSzTx/>
              <a:buFontTx/>
            </a:pPr>
            <a:r>
              <a:rPr spc="0" dirty="0">
                <a:solidFill>
                  <a:srgbClr val="0070C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水下无线光通信与信息处理团队</a:t>
            </a:r>
            <a:r>
              <a:rPr spc="0">
                <a:solidFill>
                  <a:srgbClr val="0070C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+mn-cs"/>
                <a:sym typeface="+mn-ea"/>
              </a:rPr>
              <a:t>介绍</a:t>
            </a:r>
            <a:endParaRPr spc="0" dirty="0">
              <a:solidFill>
                <a:srgbClr val="0070C0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01061" y="1067680"/>
            <a:ext cx="4013752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团队现有研究人员</a:t>
            </a:r>
            <a:r>
              <a:rPr lang="en-US" altLang="zh-CN" sz="2000" dirty="0"/>
              <a:t>9</a:t>
            </a:r>
            <a:r>
              <a:rPr lang="zh-CN" altLang="en-US" sz="2000" dirty="0"/>
              <a:t>名，具有博士学位</a:t>
            </a:r>
            <a:r>
              <a:rPr lang="en-US" altLang="zh-CN" sz="2000" dirty="0"/>
              <a:t>5</a:t>
            </a:r>
            <a:r>
              <a:rPr lang="zh-CN" altLang="en-US" sz="2000" dirty="0"/>
              <a:t>人，其中教授</a:t>
            </a:r>
            <a:r>
              <a:rPr lang="en-US" altLang="zh-CN" sz="2000" dirty="0"/>
              <a:t>1</a:t>
            </a:r>
            <a:r>
              <a:rPr lang="zh-CN" altLang="en-US" sz="2000" dirty="0"/>
              <a:t>人，副教授</a:t>
            </a:r>
            <a:r>
              <a:rPr lang="en-US" altLang="zh-CN" sz="2000" dirty="0"/>
              <a:t>4</a:t>
            </a:r>
            <a:r>
              <a:rPr lang="zh-CN" altLang="en-US" sz="2000" dirty="0"/>
              <a:t>人，讲师</a:t>
            </a:r>
            <a:r>
              <a:rPr lang="en-US" altLang="zh-CN" sz="2000" dirty="0"/>
              <a:t>3</a:t>
            </a:r>
            <a:r>
              <a:rPr lang="zh-CN" altLang="en-US" sz="2000" dirty="0"/>
              <a:t>人，工程师</a:t>
            </a:r>
            <a:r>
              <a:rPr lang="en-US" altLang="zh-CN" sz="2000" dirty="0"/>
              <a:t>1</a:t>
            </a:r>
            <a:r>
              <a:rPr lang="zh-CN" altLang="en-US" sz="2000" dirty="0"/>
              <a:t>人。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学科方向：电子与信息工程、通信工程、光学工程。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80662" y="3922132"/>
            <a:ext cx="8982675" cy="293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kern="100" dirty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中央军委科技委国防科技创新项目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endParaRPr lang="en-US" altLang="zh-CN" sz="1800" kern="1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 《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水下高速大功率无线激光通信发射及天线技术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》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2018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年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-2019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100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万元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《水下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LED+LD</a:t>
            </a:r>
            <a:r>
              <a:rPr lang="zh-CN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通信信道特性及高速收发技术研究》，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2017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年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-2018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40</a:t>
            </a:r>
            <a:r>
              <a:rPr lang="zh-CN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万元。</a:t>
            </a:r>
            <a:endParaRPr lang="en-US" altLang="zh-CN" sz="1800" kern="1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中国船舶重工集团第七〇五研究所</a:t>
            </a:r>
            <a:r>
              <a:rPr lang="zh-CN" altLang="en-US" sz="1800" kern="100" dirty="0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国家重点实验室：</a:t>
            </a:r>
            <a:endParaRPr lang="en-US" altLang="zh-CN" sz="1800" kern="100" dirty="0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 </a:t>
            </a:r>
            <a:r>
              <a:rPr lang="zh-CN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《高速水下无线激光通信的信息平台研究》，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2016-2018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10</a:t>
            </a:r>
            <a:r>
              <a:rPr lang="zh-CN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万元。</a:t>
            </a:r>
            <a:endParaRPr lang="en-US" altLang="zh-CN" sz="1800" kern="1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 《</a:t>
            </a:r>
            <a:r>
              <a:rPr lang="zh-CN" altLang="zh-CN" sz="1800" dirty="0">
                <a:latin typeface="楷体" panose="02010609060101010101" charset="-122"/>
                <a:ea typeface="楷体" panose="02010609060101010101" charset="-122"/>
              </a:rPr>
              <a:t>水下激光通信信道特性及数据传输特性的分析与研究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》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2015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年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-2017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年，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10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万元。</a:t>
            </a:r>
            <a:endParaRPr lang="en-US" altLang="zh-CN" sz="1800" kern="1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 《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水下高灵敏度光接收及处理技术研究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》2019-2020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15</a:t>
            </a:r>
            <a:r>
              <a:rPr lang="zh-CN" altLang="en-US" sz="1800" kern="1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万元。</a:t>
            </a:r>
            <a:endParaRPr lang="en-US" altLang="zh-CN" sz="1800" kern="1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10" y="886978"/>
            <a:ext cx="4013752" cy="30941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9218" name="标题 8"/>
          <p:cNvSpPr>
            <a:spLocks noGrp="1"/>
          </p:cNvSpPr>
          <p:nvPr>
            <p:ph type="title" idx="4294967295"/>
          </p:nvPr>
        </p:nvSpPr>
        <p:spPr>
          <a:xfrm>
            <a:off x="612775" y="622300"/>
            <a:ext cx="6480175" cy="720725"/>
          </a:xfrm>
        </p:spPr>
        <p:txBody>
          <a:bodyPr vert="horz" wrap="square" anchor="b">
            <a:spAutoFit/>
          </a:bodyPr>
          <a:p>
            <a:pPr algn="l"/>
            <a:r>
              <a:rPr lang="zh-CN" altLang="en-US" dirty="0">
                <a:solidFill>
                  <a:srgbClr val="000000"/>
                </a:solidFill>
                <a:latin typeface="宋体" pitchFamily="2" charset="-122"/>
              </a:rPr>
              <a:t>什么是光通信？</a:t>
            </a:r>
            <a:endParaRPr lang="zh-CN" altLang="en-US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9219" name="Rectangle 8"/>
          <p:cNvSpPr>
            <a:spLocks noGrp="1"/>
          </p:cNvSpPr>
          <p:nvPr>
            <p:ph sz="quarter" idx="1"/>
          </p:nvPr>
        </p:nvSpPr>
        <p:spPr>
          <a:xfrm>
            <a:off x="482283" y="1341755"/>
            <a:ext cx="7610475" cy="2016125"/>
          </a:xfrm>
        </p:spPr>
        <p:txBody>
          <a:bodyPr vert="horz" wrap="square" anchor="t">
            <a:normAutofit fontScale="80000"/>
          </a:bodyPr>
          <a:lstStyle>
            <a:lvl1pPr lvl="0">
              <a:buClrTx/>
              <a:buSzTx/>
              <a:buFontTx/>
              <a:defRPr sz="2400"/>
            </a:lvl1pPr>
            <a:lvl2pPr lvl="1">
              <a:buClrTx/>
              <a:buSzTx/>
              <a:buFontTx/>
              <a:defRPr sz="2000"/>
            </a:lvl2pPr>
            <a:lvl3pPr lvl="2">
              <a:buClrTx/>
              <a:buSzTx/>
              <a:buFontTx/>
              <a:defRPr sz="1800"/>
            </a:lvl3pPr>
            <a:lvl4pPr lvl="3">
              <a:buClrTx/>
              <a:buSzTx/>
              <a:buFontTx/>
              <a:defRPr sz="1600"/>
            </a:lvl4pPr>
            <a:lvl5pPr lvl="4">
              <a:buClrTx/>
              <a:buSzTx/>
              <a:buFontTx/>
              <a:defRPr sz="1600"/>
            </a:lvl5pPr>
          </a:lstStyle>
          <a:p>
            <a:pPr lvl="0" eaLnBrk="1" hangingPunct="1">
              <a:lnSpc>
                <a:spcPct val="150000"/>
              </a:lnSpc>
              <a:buNone/>
            </a:pPr>
            <a:r>
              <a:rPr lang="zh-CN" altLang="en-US" sz="3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光通信是一种以光波作为传输媒质的通信方式。光波和无线电波同都属于电磁波，但光波的频率比无线电波的频率高，波长比无线电波的波长短（如图）。</a:t>
            </a:r>
            <a:endParaRPr lang="zh-CN" altLang="en-US" sz="3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220" name="灯片编号占位符 5"/>
          <p:cNvSpPr txBox="1">
            <a:spLocks noGrp="1"/>
          </p:cNvSpPr>
          <p:nvPr/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 eaLnBrk="1" hangingPunct="1"/>
            <a:fld id="{9A0DB2DC-4C9A-4742-B13C-FB6460FD3503}" type="slidenum">
              <a:rPr lang="en-US" altLang="zh-CN" sz="1400" b="1" dirty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1" name="Line 8"/>
          <p:cNvSpPr/>
          <p:nvPr/>
        </p:nvSpPr>
        <p:spPr>
          <a:xfrm>
            <a:off x="0" y="1341438"/>
            <a:ext cx="9144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0245" name="组合 10244"/>
          <p:cNvGrpSpPr/>
          <p:nvPr/>
        </p:nvGrpSpPr>
        <p:grpSpPr>
          <a:xfrm>
            <a:off x="457835" y="2995930"/>
            <a:ext cx="8057515" cy="3797935"/>
            <a:chOff x="86" y="0"/>
            <a:chExt cx="5674" cy="3193"/>
          </a:xfrm>
        </p:grpSpPr>
        <p:sp>
          <p:nvSpPr>
            <p:cNvPr id="10246" name="Rectangle 5"/>
            <p:cNvSpPr/>
            <p:nvPr/>
          </p:nvSpPr>
          <p:spPr>
            <a:xfrm>
              <a:off x="457" y="166"/>
              <a:ext cx="365" cy="2452"/>
            </a:xfrm>
            <a:prstGeom prst="rect">
              <a:avLst/>
            </a:prstGeom>
            <a:solidFill>
              <a:srgbClr val="80808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7" name="Text Box 6"/>
            <p:cNvSpPr txBox="1"/>
            <p:nvPr/>
          </p:nvSpPr>
          <p:spPr>
            <a:xfrm>
              <a:off x="392" y="4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48" name="Line 7"/>
            <p:cNvSpPr/>
            <p:nvPr/>
          </p:nvSpPr>
          <p:spPr>
            <a:xfrm flipV="1">
              <a:off x="642" y="2555"/>
              <a:ext cx="2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49" name="Text Box 8"/>
            <p:cNvSpPr txBox="1"/>
            <p:nvPr/>
          </p:nvSpPr>
          <p:spPr>
            <a:xfrm>
              <a:off x="553" y="2620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50" name="Rectangle 9"/>
            <p:cNvSpPr/>
            <p:nvPr/>
          </p:nvSpPr>
          <p:spPr>
            <a:xfrm>
              <a:off x="810" y="173"/>
              <a:ext cx="367" cy="2452"/>
            </a:xfrm>
            <a:prstGeom prst="rect">
              <a:avLst/>
            </a:prstGeom>
            <a:solidFill>
              <a:srgbClr val="96969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1" name="Text Box 10"/>
            <p:cNvSpPr txBox="1"/>
            <p:nvPr/>
          </p:nvSpPr>
          <p:spPr>
            <a:xfrm>
              <a:off x="754" y="0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52" name="Line 11"/>
            <p:cNvSpPr/>
            <p:nvPr/>
          </p:nvSpPr>
          <p:spPr>
            <a:xfrm flipV="1">
              <a:off x="1004" y="2549"/>
              <a:ext cx="2" cy="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3" name="Text Box 12"/>
            <p:cNvSpPr txBox="1"/>
            <p:nvPr/>
          </p:nvSpPr>
          <p:spPr>
            <a:xfrm>
              <a:off x="915" y="2616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54" name="Rectangle 13"/>
            <p:cNvSpPr/>
            <p:nvPr/>
          </p:nvSpPr>
          <p:spPr>
            <a:xfrm>
              <a:off x="1179" y="171"/>
              <a:ext cx="365" cy="2452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5" name="Text Box 14"/>
            <p:cNvSpPr txBox="1"/>
            <p:nvPr/>
          </p:nvSpPr>
          <p:spPr>
            <a:xfrm>
              <a:off x="1114" y="8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56" name="Line 15"/>
            <p:cNvSpPr/>
            <p:nvPr/>
          </p:nvSpPr>
          <p:spPr>
            <a:xfrm flipV="1">
              <a:off x="1365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7" name="Text Box 16"/>
            <p:cNvSpPr txBox="1"/>
            <p:nvPr/>
          </p:nvSpPr>
          <p:spPr>
            <a:xfrm>
              <a:off x="1275" y="2625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58" name="Rectangle 17"/>
            <p:cNvSpPr/>
            <p:nvPr/>
          </p:nvSpPr>
          <p:spPr>
            <a:xfrm>
              <a:off x="1544" y="166"/>
              <a:ext cx="366" cy="2452"/>
            </a:xfrm>
            <a:prstGeom prst="rect">
              <a:avLst/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9" name="Text Box 18"/>
            <p:cNvSpPr txBox="1"/>
            <p:nvPr/>
          </p:nvSpPr>
          <p:spPr>
            <a:xfrm>
              <a:off x="1480" y="4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0" name="Line 19"/>
            <p:cNvSpPr/>
            <p:nvPr/>
          </p:nvSpPr>
          <p:spPr>
            <a:xfrm flipV="1">
              <a:off x="1730" y="2555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1" name="Text Box 20"/>
            <p:cNvSpPr txBox="1"/>
            <p:nvPr/>
          </p:nvSpPr>
          <p:spPr>
            <a:xfrm>
              <a:off x="1642" y="2620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2" name="Rectangle 21"/>
            <p:cNvSpPr/>
            <p:nvPr/>
          </p:nvSpPr>
          <p:spPr>
            <a:xfrm>
              <a:off x="1906" y="171"/>
              <a:ext cx="367" cy="2452"/>
            </a:xfrm>
            <a:prstGeom prst="rect">
              <a:avLst/>
            </a:prstGeom>
            <a:solidFill>
              <a:srgbClr val="3399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3" name="Text Box 22"/>
            <p:cNvSpPr txBox="1"/>
            <p:nvPr/>
          </p:nvSpPr>
          <p:spPr>
            <a:xfrm>
              <a:off x="1841" y="8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4" name="Line 23"/>
            <p:cNvSpPr/>
            <p:nvPr/>
          </p:nvSpPr>
          <p:spPr>
            <a:xfrm flipV="1">
              <a:off x="2092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5" name="Text Box 24"/>
            <p:cNvSpPr txBox="1"/>
            <p:nvPr/>
          </p:nvSpPr>
          <p:spPr>
            <a:xfrm>
              <a:off x="2003" y="2625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6" name="Rectangle 25"/>
            <p:cNvSpPr/>
            <p:nvPr/>
          </p:nvSpPr>
          <p:spPr>
            <a:xfrm>
              <a:off x="2266" y="171"/>
              <a:ext cx="367" cy="2452"/>
            </a:xfrm>
            <a:prstGeom prst="rect">
              <a:avLst/>
            </a:prstGeom>
            <a:solidFill>
              <a:srgbClr val="3399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7" name="Text Box 26"/>
            <p:cNvSpPr txBox="1"/>
            <p:nvPr/>
          </p:nvSpPr>
          <p:spPr>
            <a:xfrm>
              <a:off x="2202" y="8"/>
              <a:ext cx="25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8" name="Line 27"/>
            <p:cNvSpPr/>
            <p:nvPr/>
          </p:nvSpPr>
          <p:spPr>
            <a:xfrm flipV="1">
              <a:off x="2452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9" name="Text Box 28"/>
            <p:cNvSpPr txBox="1"/>
            <p:nvPr/>
          </p:nvSpPr>
          <p:spPr>
            <a:xfrm>
              <a:off x="2364" y="2625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70" name="Rectangle 29"/>
            <p:cNvSpPr/>
            <p:nvPr/>
          </p:nvSpPr>
          <p:spPr>
            <a:xfrm>
              <a:off x="2634" y="166"/>
              <a:ext cx="366" cy="2452"/>
            </a:xfrm>
            <a:prstGeom prst="rect">
              <a:avLst/>
            </a:prstGeom>
            <a:solidFill>
              <a:srgbClr val="008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71" name="Text Box 30"/>
            <p:cNvSpPr txBox="1"/>
            <p:nvPr/>
          </p:nvSpPr>
          <p:spPr>
            <a:xfrm>
              <a:off x="2576" y="4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72" name="Line 31"/>
            <p:cNvSpPr/>
            <p:nvPr/>
          </p:nvSpPr>
          <p:spPr>
            <a:xfrm flipV="1">
              <a:off x="2819" y="2555"/>
              <a:ext cx="2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3" name="Text Box 32"/>
            <p:cNvSpPr txBox="1"/>
            <p:nvPr/>
          </p:nvSpPr>
          <p:spPr>
            <a:xfrm>
              <a:off x="2730" y="2620"/>
              <a:ext cx="25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74" name="Rectangle 33"/>
            <p:cNvSpPr/>
            <p:nvPr/>
          </p:nvSpPr>
          <p:spPr>
            <a:xfrm>
              <a:off x="2996" y="171"/>
              <a:ext cx="365" cy="2452"/>
            </a:xfrm>
            <a:prstGeom prst="rect">
              <a:avLst/>
            </a:prstGeom>
            <a:solidFill>
              <a:srgbClr val="0066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75" name="Text Box 34"/>
            <p:cNvSpPr txBox="1"/>
            <p:nvPr/>
          </p:nvSpPr>
          <p:spPr>
            <a:xfrm>
              <a:off x="2931" y="8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76" name="Line 35"/>
            <p:cNvSpPr/>
            <p:nvPr/>
          </p:nvSpPr>
          <p:spPr>
            <a:xfrm flipV="1">
              <a:off x="3182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77" name="Text Box 36"/>
            <p:cNvSpPr txBox="1"/>
            <p:nvPr/>
          </p:nvSpPr>
          <p:spPr>
            <a:xfrm>
              <a:off x="3092" y="2625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78" name="Rectangle 37"/>
            <p:cNvSpPr/>
            <p:nvPr/>
          </p:nvSpPr>
          <p:spPr>
            <a:xfrm>
              <a:off x="3356" y="171"/>
              <a:ext cx="366" cy="2452"/>
            </a:xfrm>
            <a:prstGeom prst="rect">
              <a:avLst/>
            </a:prstGeom>
            <a:solidFill>
              <a:srgbClr val="808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79" name="Text Box 38"/>
            <p:cNvSpPr txBox="1"/>
            <p:nvPr/>
          </p:nvSpPr>
          <p:spPr>
            <a:xfrm>
              <a:off x="3291" y="8"/>
              <a:ext cx="25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9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0" name="Line 39"/>
            <p:cNvSpPr/>
            <p:nvPr/>
          </p:nvSpPr>
          <p:spPr>
            <a:xfrm flipV="1">
              <a:off x="3542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1" name="Text Box 40"/>
            <p:cNvSpPr txBox="1"/>
            <p:nvPr/>
          </p:nvSpPr>
          <p:spPr>
            <a:xfrm>
              <a:off x="3452" y="2625"/>
              <a:ext cx="260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-1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2" name="Rectangle 41"/>
            <p:cNvSpPr/>
            <p:nvPr/>
          </p:nvSpPr>
          <p:spPr>
            <a:xfrm>
              <a:off x="3722" y="166"/>
              <a:ext cx="365" cy="2452"/>
            </a:xfrm>
            <a:prstGeom prst="rect">
              <a:avLst/>
            </a:prstGeom>
            <a:solidFill>
              <a:srgbClr val="CC99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3" name="Text Box 42"/>
            <p:cNvSpPr txBox="1"/>
            <p:nvPr/>
          </p:nvSpPr>
          <p:spPr>
            <a:xfrm>
              <a:off x="3657" y="4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4" name="Line 43"/>
            <p:cNvSpPr/>
            <p:nvPr/>
          </p:nvSpPr>
          <p:spPr>
            <a:xfrm flipV="1">
              <a:off x="3908" y="2555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5" name="Text Box 44"/>
            <p:cNvSpPr txBox="1"/>
            <p:nvPr/>
          </p:nvSpPr>
          <p:spPr>
            <a:xfrm>
              <a:off x="3819" y="2620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-2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6" name="Rectangle 45"/>
            <p:cNvSpPr/>
            <p:nvPr/>
          </p:nvSpPr>
          <p:spPr>
            <a:xfrm>
              <a:off x="4078" y="166"/>
              <a:ext cx="366" cy="2452"/>
            </a:xfrm>
            <a:prstGeom prst="rect">
              <a:avLst/>
            </a:prstGeom>
            <a:solidFill>
              <a:srgbClr val="9966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7" name="Text Box 46"/>
            <p:cNvSpPr txBox="1"/>
            <p:nvPr/>
          </p:nvSpPr>
          <p:spPr>
            <a:xfrm>
              <a:off x="4019" y="8"/>
              <a:ext cx="25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88" name="Line 47"/>
            <p:cNvSpPr/>
            <p:nvPr/>
          </p:nvSpPr>
          <p:spPr>
            <a:xfrm flipV="1">
              <a:off x="4269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89" name="Text Box 48"/>
            <p:cNvSpPr txBox="1"/>
            <p:nvPr/>
          </p:nvSpPr>
          <p:spPr>
            <a:xfrm>
              <a:off x="4181" y="2625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-3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90" name="Rectangle 49"/>
            <p:cNvSpPr/>
            <p:nvPr/>
          </p:nvSpPr>
          <p:spPr>
            <a:xfrm>
              <a:off x="4444" y="171"/>
              <a:ext cx="366" cy="2452"/>
            </a:xfrm>
            <a:prstGeom prst="rect">
              <a:avLst/>
            </a:prstGeom>
            <a:solidFill>
              <a:srgbClr val="CC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91" name="Text Box 50"/>
            <p:cNvSpPr txBox="1"/>
            <p:nvPr/>
          </p:nvSpPr>
          <p:spPr>
            <a:xfrm>
              <a:off x="4379" y="8"/>
              <a:ext cx="25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12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92" name="Line 51"/>
            <p:cNvSpPr/>
            <p:nvPr/>
          </p:nvSpPr>
          <p:spPr>
            <a:xfrm flipV="1">
              <a:off x="4630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3" name="Text Box 52"/>
            <p:cNvSpPr txBox="1"/>
            <p:nvPr/>
          </p:nvSpPr>
          <p:spPr>
            <a:xfrm>
              <a:off x="4541" y="2625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-4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94" name="Rectangle 53"/>
            <p:cNvSpPr/>
            <p:nvPr/>
          </p:nvSpPr>
          <p:spPr>
            <a:xfrm>
              <a:off x="4806" y="166"/>
              <a:ext cx="366" cy="2452"/>
            </a:xfrm>
            <a:prstGeom prst="rect">
              <a:avLst/>
            </a:prstGeom>
            <a:solidFill>
              <a:srgbClr val="CC00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95" name="Text Box 54"/>
            <p:cNvSpPr txBox="1"/>
            <p:nvPr/>
          </p:nvSpPr>
          <p:spPr>
            <a:xfrm>
              <a:off x="4742" y="4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13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96" name="Line 55"/>
            <p:cNvSpPr/>
            <p:nvPr/>
          </p:nvSpPr>
          <p:spPr>
            <a:xfrm flipV="1">
              <a:off x="4991" y="2555"/>
              <a:ext cx="2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97" name="Text Box 56"/>
            <p:cNvSpPr txBox="1"/>
            <p:nvPr/>
          </p:nvSpPr>
          <p:spPr>
            <a:xfrm>
              <a:off x="4903" y="2620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-5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98" name="Rectangle 57"/>
            <p:cNvSpPr/>
            <p:nvPr/>
          </p:nvSpPr>
          <p:spPr>
            <a:xfrm>
              <a:off x="5167" y="171"/>
              <a:ext cx="367" cy="2452"/>
            </a:xfrm>
            <a:prstGeom prst="rect">
              <a:avLst/>
            </a:prstGeom>
            <a:solidFill>
              <a:srgbClr val="FF0066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99" name="Text Box 58"/>
            <p:cNvSpPr txBox="1"/>
            <p:nvPr/>
          </p:nvSpPr>
          <p:spPr>
            <a:xfrm>
              <a:off x="5103" y="8"/>
              <a:ext cx="25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14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00" name="Line 59"/>
            <p:cNvSpPr/>
            <p:nvPr/>
          </p:nvSpPr>
          <p:spPr>
            <a:xfrm flipV="1">
              <a:off x="5353" y="2560"/>
              <a:ext cx="1" cy="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01" name="Text Box 60"/>
            <p:cNvSpPr txBox="1"/>
            <p:nvPr/>
          </p:nvSpPr>
          <p:spPr>
            <a:xfrm>
              <a:off x="5264" y="2625"/>
              <a:ext cx="25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-6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02" name="Text Box 61"/>
            <p:cNvSpPr txBox="1"/>
            <p:nvPr/>
          </p:nvSpPr>
          <p:spPr>
            <a:xfrm>
              <a:off x="5464" y="8"/>
              <a:ext cx="25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1600" b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15</a:t>
              </a:r>
              <a:endPara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0303" name="组合 10302"/>
            <p:cNvGrpSpPr/>
            <p:nvPr/>
          </p:nvGrpSpPr>
          <p:grpSpPr>
            <a:xfrm>
              <a:off x="457" y="815"/>
              <a:ext cx="5099" cy="1"/>
              <a:chOff x="0" y="0"/>
              <a:chExt cx="5099" cy="1"/>
            </a:xfrm>
          </p:grpSpPr>
          <p:sp>
            <p:nvSpPr>
              <p:cNvPr id="10304" name="Line 65"/>
              <p:cNvSpPr/>
              <p:nvPr/>
            </p:nvSpPr>
            <p:spPr>
              <a:xfrm>
                <a:off x="3744" y="0"/>
                <a:ext cx="1032" cy="1"/>
              </a:xfrm>
              <a:prstGeom prst="line">
                <a:avLst/>
              </a:prstGeom>
              <a:ln w="25400" cap="flat" cmpd="sng">
                <a:solidFill>
                  <a:schemeClr val="bg2"/>
                </a:solidFill>
                <a:prstDash val="solid"/>
                <a:headEnd type="stealth" w="med" len="med"/>
                <a:tailEnd type="stealth" w="med" len="med"/>
              </a:ln>
            </p:spPr>
          </p:sp>
          <p:grpSp>
            <p:nvGrpSpPr>
              <p:cNvPr id="10305" name="组合 10304"/>
              <p:cNvGrpSpPr/>
              <p:nvPr/>
            </p:nvGrpSpPr>
            <p:grpSpPr>
              <a:xfrm>
                <a:off x="0" y="0"/>
                <a:ext cx="5099" cy="1"/>
                <a:chOff x="0" y="0"/>
                <a:chExt cx="5099" cy="1"/>
              </a:xfrm>
            </p:grpSpPr>
            <p:sp>
              <p:nvSpPr>
                <p:cNvPr id="10306" name="Line 62"/>
                <p:cNvSpPr/>
                <p:nvPr/>
              </p:nvSpPr>
              <p:spPr>
                <a:xfrm>
                  <a:off x="0" y="0"/>
                  <a:ext cx="1097" cy="1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  <p:sp>
              <p:nvSpPr>
                <p:cNvPr id="10307" name="Line 63"/>
                <p:cNvSpPr/>
                <p:nvPr/>
              </p:nvSpPr>
              <p:spPr>
                <a:xfrm>
                  <a:off x="1097" y="0"/>
                  <a:ext cx="1807" cy="1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  <p:sp>
              <p:nvSpPr>
                <p:cNvPr id="10308" name="Line 64"/>
                <p:cNvSpPr/>
                <p:nvPr/>
              </p:nvSpPr>
              <p:spPr>
                <a:xfrm>
                  <a:off x="2904" y="0"/>
                  <a:ext cx="840" cy="1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  <p:sp>
              <p:nvSpPr>
                <p:cNvPr id="10309" name="Line 66"/>
                <p:cNvSpPr/>
                <p:nvPr/>
              </p:nvSpPr>
              <p:spPr>
                <a:xfrm>
                  <a:off x="4776" y="0"/>
                  <a:ext cx="323" cy="1"/>
                </a:xfrm>
                <a:prstGeom prst="line">
                  <a:avLst/>
                </a:prstGeom>
                <a:ln w="25400" cap="flat" cmpd="sng">
                  <a:solidFill>
                    <a:schemeClr val="bg2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</p:grpSp>
        </p:grpSp>
        <p:sp>
          <p:nvSpPr>
            <p:cNvPr id="10310" name="Line 77"/>
            <p:cNvSpPr/>
            <p:nvPr/>
          </p:nvSpPr>
          <p:spPr>
            <a:xfrm flipV="1">
              <a:off x="453" y="161"/>
              <a:ext cx="5307" cy="12"/>
            </a:xfrm>
            <a:prstGeom prst="line">
              <a:avLst/>
            </a:prstGeom>
            <a:ln w="31750" cap="flat" cmpd="sng">
              <a:solidFill>
                <a:srgbClr val="FF66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0311" name="Line 78"/>
            <p:cNvSpPr/>
            <p:nvPr/>
          </p:nvSpPr>
          <p:spPr>
            <a:xfrm flipH="1">
              <a:off x="306" y="2622"/>
              <a:ext cx="5222" cy="0"/>
            </a:xfrm>
            <a:prstGeom prst="line">
              <a:avLst/>
            </a:prstGeom>
            <a:ln w="31750" cap="flat" cmpd="sng">
              <a:solidFill>
                <a:srgbClr val="FFFF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0312" name="Text Box 79"/>
            <p:cNvSpPr txBox="1"/>
            <p:nvPr/>
          </p:nvSpPr>
          <p:spPr>
            <a:xfrm>
              <a:off x="1972" y="2806"/>
              <a:ext cx="2141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自由空间波长（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）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13" name="Text Box 81"/>
            <p:cNvSpPr txBox="1"/>
            <p:nvPr/>
          </p:nvSpPr>
          <p:spPr>
            <a:xfrm>
              <a:off x="616" y="602"/>
              <a:ext cx="81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电力、电话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14" name="Text Box 82"/>
            <p:cNvSpPr txBox="1"/>
            <p:nvPr/>
          </p:nvSpPr>
          <p:spPr>
            <a:xfrm>
              <a:off x="1950" y="594"/>
              <a:ext cx="1223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无线电、电视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15" name="Text Box 83"/>
            <p:cNvSpPr txBox="1"/>
            <p:nvPr/>
          </p:nvSpPr>
          <p:spPr>
            <a:xfrm>
              <a:off x="3632" y="594"/>
              <a:ext cx="40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微波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16" name="Text Box 84"/>
            <p:cNvSpPr txBox="1"/>
            <p:nvPr/>
          </p:nvSpPr>
          <p:spPr>
            <a:xfrm>
              <a:off x="4549" y="594"/>
              <a:ext cx="463" cy="46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红外线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17" name="Text Box 85"/>
            <p:cNvSpPr txBox="1"/>
            <p:nvPr/>
          </p:nvSpPr>
          <p:spPr>
            <a:xfrm>
              <a:off x="5161" y="572"/>
              <a:ext cx="54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可见光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18" name="Line 86"/>
            <p:cNvSpPr/>
            <p:nvPr/>
          </p:nvSpPr>
          <p:spPr>
            <a:xfrm>
              <a:off x="2103" y="1294"/>
              <a:ext cx="35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0319" name="Line 87"/>
            <p:cNvSpPr/>
            <p:nvPr/>
          </p:nvSpPr>
          <p:spPr>
            <a:xfrm>
              <a:off x="2816" y="1294"/>
              <a:ext cx="56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0320" name="Line 88"/>
            <p:cNvSpPr/>
            <p:nvPr/>
          </p:nvSpPr>
          <p:spPr>
            <a:xfrm>
              <a:off x="3377" y="1294"/>
              <a:ext cx="6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0321" name="Line 89"/>
            <p:cNvSpPr/>
            <p:nvPr/>
          </p:nvSpPr>
          <p:spPr>
            <a:xfrm>
              <a:off x="461" y="2051"/>
              <a:ext cx="254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0322" name="Line 90"/>
            <p:cNvSpPr/>
            <p:nvPr/>
          </p:nvSpPr>
          <p:spPr>
            <a:xfrm>
              <a:off x="1185" y="1673"/>
              <a:ext cx="2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0323" name="Line 91"/>
            <p:cNvSpPr/>
            <p:nvPr/>
          </p:nvSpPr>
          <p:spPr>
            <a:xfrm>
              <a:off x="5165" y="1294"/>
              <a:ext cx="17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med" len="sm"/>
              <a:tailEnd type="stealth" w="med" len="sm"/>
            </a:ln>
          </p:spPr>
        </p:sp>
        <p:sp>
          <p:nvSpPr>
            <p:cNvPr id="10324" name="Text Box 92"/>
            <p:cNvSpPr txBox="1"/>
            <p:nvPr/>
          </p:nvSpPr>
          <p:spPr>
            <a:xfrm>
              <a:off x="1950" y="1845"/>
              <a:ext cx="866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双铰线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25" name="Text Box 93"/>
            <p:cNvSpPr txBox="1"/>
            <p:nvPr/>
          </p:nvSpPr>
          <p:spPr>
            <a:xfrm>
              <a:off x="1992" y="1468"/>
              <a:ext cx="612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同轴电缆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26" name="Text Box 94"/>
            <p:cNvSpPr txBox="1"/>
            <p:nvPr/>
          </p:nvSpPr>
          <p:spPr>
            <a:xfrm>
              <a:off x="5097" y="1079"/>
              <a:ext cx="408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光纤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27" name="Text Box 95"/>
            <p:cNvSpPr txBox="1"/>
            <p:nvPr/>
          </p:nvSpPr>
          <p:spPr>
            <a:xfrm>
              <a:off x="3481" y="1102"/>
              <a:ext cx="760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卫星</a:t>
              </a:r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微波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28" name="Text Box 96"/>
            <p:cNvSpPr txBox="1"/>
            <p:nvPr/>
          </p:nvSpPr>
          <p:spPr>
            <a:xfrm>
              <a:off x="1950" y="1110"/>
              <a:ext cx="764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AM</a:t>
              </a: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无线电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29" name="Text Box 97"/>
            <p:cNvSpPr txBox="1"/>
            <p:nvPr/>
          </p:nvSpPr>
          <p:spPr>
            <a:xfrm>
              <a:off x="2757" y="1104"/>
              <a:ext cx="764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FM</a:t>
              </a:r>
              <a:r>
                <a:rPr lang="zh-CN" alt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无线电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30" name="Text Box 99"/>
            <p:cNvSpPr txBox="1"/>
            <p:nvPr/>
          </p:nvSpPr>
          <p:spPr>
            <a:xfrm>
              <a:off x="86" y="215"/>
              <a:ext cx="452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频段划分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31" name="Text Box 100"/>
            <p:cNvSpPr txBox="1"/>
            <p:nvPr/>
          </p:nvSpPr>
          <p:spPr>
            <a:xfrm>
              <a:off x="86" y="1326"/>
              <a:ext cx="306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传输介质</a:t>
              </a:r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402590" y="5497830"/>
            <a:ext cx="8338185" cy="1226185"/>
          </a:xfrm>
        </p:spPr>
        <p:txBody>
          <a:bodyPr vert="horz" wrap="square" lIns="91440" tIns="45720" rIns="91440" bIns="45720" anchor="t">
            <a:normAutofit lnSpcReduction="20000"/>
          </a:bodyPr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zh-CN" dirty="0"/>
              <a:t>大气、</a:t>
            </a:r>
            <a:r>
              <a:rPr lang="zh-CN" altLang="en-US" dirty="0"/>
              <a:t>自由空间光通信</a:t>
            </a:r>
            <a:r>
              <a:rPr lang="en-US" altLang="zh-CN" dirty="0"/>
              <a:t>FSO</a:t>
            </a:r>
            <a:r>
              <a:rPr lang="zh-CN" altLang="en-US" dirty="0"/>
              <a:t>；</a:t>
            </a:r>
            <a:r>
              <a:rPr lang="zh-CN" altLang="zh-CN" dirty="0"/>
              <a:t>可见光通信</a:t>
            </a:r>
            <a:r>
              <a:rPr lang="en-US" altLang="zh-CN" dirty="0"/>
              <a:t>VLC</a:t>
            </a:r>
            <a:r>
              <a:rPr lang="zh-CN" altLang="en-US" dirty="0"/>
              <a:t>；</a:t>
            </a:r>
            <a:r>
              <a:rPr lang="zh-CN" altLang="zh-CN" dirty="0"/>
              <a:t>紫外光通信；水下光通信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6042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95" y="3174365"/>
            <a:ext cx="8182610" cy="223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dc54564e9258d1094a9b30bdd158ccbf6c814d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15" y="221615"/>
            <a:ext cx="7697470" cy="2875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3" name="Text Box 11"/>
          <p:cNvSpPr txBox="1"/>
          <p:nvPr/>
        </p:nvSpPr>
        <p:spPr>
          <a:xfrm>
            <a:off x="285115" y="1367155"/>
            <a:ext cx="8441055" cy="3488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  <a:buChar char="•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自由空间光通信（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Free Space Optics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），简称为</a:t>
            </a:r>
            <a:r>
              <a:rPr lang="en-US" altLang="zh-CN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FSO</a:t>
            </a: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>
              <a:lnSpc>
                <a:spcPct val="150000"/>
              </a:lnSpc>
              <a:buChar char="•"/>
            </a:pPr>
            <a:r>
              <a:rPr lang="zh-CN" altLang="en-US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FSO技术具有高带宽、部署迅速、费用合理等优势。FSO技术以激光为载体，用点对点或点对多点方式实现连接。虽然FSO通信不需要光纤而是以空气为介质，但由于其设备以发光二极管或激光二极管为光源，因此又有“无线光纤”之称。</a:t>
            </a:r>
            <a:endParaRPr lang="zh-CN" altLang="en-US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zh-CN" altLang="en-US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xfrm>
            <a:off x="684213" y="25400"/>
            <a:ext cx="8085137" cy="739775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4000" b="1" dirty="0">
                <a:latin typeface="Times New Roman" panose="02020603050405020304" pitchFamily="18" charset="0"/>
              </a:rPr>
              <a:t>FSO</a:t>
            </a:r>
            <a:endParaRPr lang="en-US" altLang="zh-CN" sz="4000" b="1" dirty="0">
              <a:latin typeface="Times New Roman" panose="02020603050405020304" pitchFamily="18" charset="0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eaLnBrk="1" hangingPunct="1"/>
            <a:endParaRPr lang="zh-CN" altLang="en-US" dirty="0"/>
          </a:p>
        </p:txBody>
      </p:sp>
      <p:pic>
        <p:nvPicPr>
          <p:cNvPr id="4813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3935" y="679450"/>
            <a:ext cx="4182745" cy="29235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3" name="Picture 2" descr="C:\Users\mn2ne\Pictures\10122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" y="679133"/>
            <a:ext cx="4425950" cy="3122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4" name="Picture 3" descr="C:\Users\mn2ne\Pictures\beam2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" y="3932555"/>
            <a:ext cx="4729163" cy="2889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pIYBAFphmqmAX647AAB8YFdEg2M7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320" y="3932555"/>
            <a:ext cx="3971925" cy="2813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4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470" y="3366770"/>
            <a:ext cx="3570605" cy="33261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7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26173" y="342265"/>
            <a:ext cx="6248400" cy="3024188"/>
          </a:xfrm>
        </p:spPr>
      </p:pic>
      <p:pic>
        <p:nvPicPr>
          <p:cNvPr id="5222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75" y="3428365"/>
            <a:ext cx="4740910" cy="2228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9458" name="标题 19457"/>
          <p:cNvSpPr/>
          <p:nvPr>
            <p:ph type="title"/>
          </p:nvPr>
        </p:nvSpPr>
        <p:spPr>
          <a:xfrm>
            <a:off x="473710" y="650083"/>
            <a:ext cx="7886700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dirty="0">
                <a:solidFill>
                  <a:srgbClr val="000000"/>
                </a:solidFill>
                <a:latin typeface="黑体" panose="02010609060101010101" pitchFamily="2" charset="-122"/>
              </a:rPr>
              <a:t>FSO的关键技术</a:t>
            </a:r>
            <a:endParaRPr lang="zh-CN" altLang="en-US" sz="3600" dirty="0">
              <a:solidFill>
                <a:srgbClr val="000000"/>
              </a:solidFill>
              <a:latin typeface="黑体" panose="02010609060101010101" pitchFamily="2" charset="-122"/>
            </a:endParaRPr>
          </a:p>
        </p:txBody>
      </p:sp>
      <p:sp>
        <p:nvSpPr>
          <p:cNvPr id="19459" name="文本占位符 19458"/>
          <p:cNvSpPr/>
          <p:nvPr>
            <p:ph type="body" idx="1"/>
          </p:nvPr>
        </p:nvSpPr>
        <p:spPr>
          <a:xfrm>
            <a:off x="250825" y="3644900"/>
            <a:ext cx="7467600" cy="2620963"/>
          </a:xfrm>
        </p:spPr>
        <p:txBody>
          <a:bodyPr/>
          <a:p>
            <a:r>
              <a:rPr lang="zh-CN" altLang="en-US" b="1" dirty="0">
                <a:solidFill>
                  <a:srgbClr val="FF00FF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高功率激光光源技术</a:t>
            </a:r>
            <a:endParaRPr lang="zh-CN" altLang="en-US" b="1" dirty="0">
              <a:solidFill>
                <a:srgbClr val="FF00FF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b="1" dirty="0">
                <a:solidFill>
                  <a:srgbClr val="FF00FF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光收发天线和精密可靠的光束控制技术</a:t>
            </a:r>
            <a:endParaRPr lang="zh-CN" altLang="en-US" b="1" dirty="0">
              <a:solidFill>
                <a:srgbClr val="FF00FF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b="1" dirty="0">
                <a:solidFill>
                  <a:srgbClr val="FF00FF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大气信道的研究</a:t>
            </a:r>
            <a:endParaRPr lang="zh-CN" altLang="en-US" b="1" dirty="0">
              <a:solidFill>
                <a:srgbClr val="FF00FF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b="1" dirty="0">
                <a:solidFill>
                  <a:srgbClr val="FF00FF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高灵敏度的信号探测和处理技术</a:t>
            </a:r>
            <a:endParaRPr lang="zh-CN" altLang="en-US" b="1" dirty="0">
              <a:solidFill>
                <a:srgbClr val="FF00FF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b="1" dirty="0">
                <a:solidFill>
                  <a:srgbClr val="FF00FF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高精度的捕获、跟踪和瞄准</a:t>
            </a:r>
            <a:r>
              <a:rPr lang="en-US" altLang="zh-CN" b="1" dirty="0">
                <a:solidFill>
                  <a:srgbClr val="FF00FF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( ATP) </a:t>
            </a:r>
            <a:r>
              <a:rPr lang="zh-CN" altLang="en-US" b="1" dirty="0">
                <a:solidFill>
                  <a:srgbClr val="FF00FF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技术</a:t>
            </a:r>
            <a:endParaRPr lang="zh-CN" altLang="en-US" b="1" dirty="0">
              <a:solidFill>
                <a:srgbClr val="FF00FF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9460" name="图片 19459" descr="2007682143512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00" y="1341438"/>
            <a:ext cx="5545138" cy="238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482" name="标题 20481"/>
          <p:cNvSpPr/>
          <p:nvPr>
            <p:ph type="title"/>
          </p:nvPr>
        </p:nvSpPr>
        <p:spPr>
          <a:xfrm>
            <a:off x="179388" y="551498"/>
            <a:ext cx="8507412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b="1" dirty="0">
                <a:solidFill>
                  <a:srgbClr val="000000"/>
                </a:solidFill>
              </a:rPr>
              <a:t>  </a:t>
            </a:r>
            <a:r>
              <a:rPr lang="zh-CN" altLang="en-US" sz="3600" dirty="0">
                <a:solidFill>
                  <a:srgbClr val="000000"/>
                </a:solidFill>
                <a:latin typeface="黑体" panose="02010609060101010101" pitchFamily="2" charset="-122"/>
              </a:rPr>
              <a:t>高功率激光光源技术</a:t>
            </a:r>
            <a:endParaRPr lang="zh-CN" altLang="en-US" sz="3600" dirty="0">
              <a:solidFill>
                <a:srgbClr val="000000"/>
              </a:solidFill>
              <a:latin typeface="黑体" panose="02010609060101010101" pitchFamily="2" charset="-122"/>
            </a:endParaRPr>
          </a:p>
        </p:txBody>
      </p:sp>
      <p:sp>
        <p:nvSpPr>
          <p:cNvPr id="20483" name="文本占位符 20482"/>
          <p:cNvSpPr/>
          <p:nvPr>
            <p:ph type="body" idx="1"/>
          </p:nvPr>
        </p:nvSpPr>
        <p:spPr>
          <a:xfrm>
            <a:off x="328295" y="1482725"/>
            <a:ext cx="8486775" cy="4873625"/>
          </a:xfrm>
        </p:spPr>
        <p:txBody>
          <a:bodyPr>
            <a:normAutofit lnSpcReduction="20000"/>
          </a:bodyPr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FSO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通信中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背景光的干扰很强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所以在通信过程中需要大功率、低损耗光源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调制速率又要尽可能高。同时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光源的调制需要采用纠错技术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尽可能减少误码和突发误码。目前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主要采用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800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～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860 nm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波段和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1 550 nm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波段的光源。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800 nm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波段光源研究时间较早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器件比较成熟，被广泛采用。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CCD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（电荷耦合器件）能将光学信号转化为数字信号，实现光电转换。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CCD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与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800nm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1550nm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波长光源均兼容，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CCD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相关参数如表所示。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1506" name="标题 21505"/>
          <p:cNvSpPr/>
          <p:nvPr>
            <p:ph type="title"/>
          </p:nvPr>
        </p:nvSpPr>
        <p:spPr>
          <a:xfrm>
            <a:off x="494030" y="401797"/>
            <a:ext cx="7886700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dirty="0">
                <a:solidFill>
                  <a:srgbClr val="000000"/>
                </a:solidFill>
                <a:latin typeface="黑体" panose="02010609060101010101" pitchFamily="2" charset="-122"/>
              </a:rPr>
              <a:t>选取1550nm的光源</a:t>
            </a:r>
            <a:endParaRPr lang="zh-CN" altLang="en-US" sz="3600" dirty="0">
              <a:solidFill>
                <a:srgbClr val="000000"/>
              </a:solidFill>
              <a:latin typeface="黑体" panose="02010609060101010101" pitchFamily="2" charset="-122"/>
            </a:endParaRPr>
          </a:p>
        </p:txBody>
      </p:sp>
      <p:sp>
        <p:nvSpPr>
          <p:cNvPr id="21507" name="文本占位符 21506"/>
          <p:cNvSpPr/>
          <p:nvPr>
            <p:ph type="body" idx="1"/>
          </p:nvPr>
        </p:nvSpPr>
        <p:spPr>
          <a:xfrm>
            <a:off x="395605" y="4076700"/>
            <a:ext cx="8242300" cy="2089150"/>
          </a:xfrm>
        </p:spPr>
        <p:txBody>
          <a:bodyPr>
            <a:normAutofit lnSpcReduction="20000"/>
          </a:bodyPr>
          <a:p>
            <a:pPr>
              <a:lnSpc>
                <a:spcPct val="150000"/>
              </a:lnSpc>
              <a:buNone/>
            </a:pPr>
            <a:r>
              <a:rPr lang="zh-CN" altLang="en-US" sz="2400" dirty="0"/>
              <a:t>           采用</a:t>
            </a:r>
            <a:r>
              <a:rPr lang="en-US" altLang="zh-CN" sz="2400" dirty="0"/>
              <a:t>1 550 nm </a:t>
            </a:r>
            <a:r>
              <a:rPr lang="zh-CN" altLang="en-US" sz="2400" dirty="0"/>
              <a:t>的优点是光源调制速率高</a:t>
            </a:r>
            <a:r>
              <a:rPr lang="en-US" altLang="zh-CN" sz="2400" dirty="0"/>
              <a:t>,</a:t>
            </a:r>
            <a:r>
              <a:rPr lang="zh-CN" altLang="en-US" sz="2400" dirty="0"/>
              <a:t>并且波长稳定。同时考虑到</a:t>
            </a:r>
            <a:r>
              <a:rPr lang="en-US" altLang="zh-CN" sz="2400" dirty="0"/>
              <a:t>1500nm</a:t>
            </a:r>
            <a:r>
              <a:rPr lang="zh-CN" altLang="en-US" sz="2400" dirty="0"/>
              <a:t>的光波对于雾有更强的穿透能力，而且人眼更安全，所以</a:t>
            </a:r>
            <a:r>
              <a:rPr lang="en-US" altLang="zh-CN" sz="2400" dirty="0"/>
              <a:t>1550nm</a:t>
            </a:r>
            <a:r>
              <a:rPr lang="zh-CN" altLang="en-US" sz="2400" dirty="0"/>
              <a:t>波长的</a:t>
            </a:r>
            <a:r>
              <a:rPr lang="en-US" altLang="zh-CN" sz="2400" dirty="0"/>
              <a:t>FSO</a:t>
            </a:r>
            <a:r>
              <a:rPr lang="zh-CN" altLang="en-US" sz="2400" dirty="0"/>
              <a:t>系统具有更广阔的使用前景。</a:t>
            </a:r>
            <a:endParaRPr lang="zh-CN" altLang="en-US" sz="2400" dirty="0"/>
          </a:p>
        </p:txBody>
      </p:sp>
      <p:pic>
        <p:nvPicPr>
          <p:cNvPr id="21508" name="图片 21507" descr="MF%B8)MAI[UO6RC(Q)1ZH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1484313"/>
            <a:ext cx="6838950" cy="2536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2530" name="标题 22529"/>
          <p:cNvSpPr/>
          <p:nvPr>
            <p:ph type="title"/>
          </p:nvPr>
        </p:nvSpPr>
        <p:spPr>
          <a:xfrm>
            <a:off x="481013" y="307817"/>
            <a:ext cx="8229600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dirty="0">
                <a:solidFill>
                  <a:srgbClr val="000000"/>
                </a:solidFill>
              </a:rPr>
              <a:t>光收发天线和精密可靠的光束控制技术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sp>
        <p:nvSpPr>
          <p:cNvPr id="22531" name="文本占位符 22530"/>
          <p:cNvSpPr/>
          <p:nvPr>
            <p:ph type="body" idx="1"/>
          </p:nvPr>
        </p:nvSpPr>
        <p:spPr>
          <a:xfrm>
            <a:off x="468313" y="2724150"/>
            <a:ext cx="8229600" cy="3298825"/>
          </a:xfrm>
        </p:spPr>
        <p:txBody>
          <a:bodyPr/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       (1) </a:t>
            </a:r>
            <a:r>
              <a:rPr lang="zh-CN" altLang="en-US" sz="2400" dirty="0"/>
              <a:t>发射端的光束要进行准直</a:t>
            </a:r>
            <a:r>
              <a:rPr lang="en-US" altLang="zh-CN" sz="2400" dirty="0"/>
              <a:t>,</a:t>
            </a:r>
            <a:r>
              <a:rPr lang="zh-CN" altLang="en-US" sz="2400" dirty="0"/>
              <a:t>先将发射光束压缩到</a:t>
            </a:r>
            <a:r>
              <a:rPr lang="en-US" altLang="zh-CN" sz="2400" dirty="0"/>
              <a:t>m rad </a:t>
            </a:r>
            <a:r>
              <a:rPr lang="zh-CN" altLang="en-US" sz="2400" dirty="0"/>
              <a:t>级</a:t>
            </a:r>
            <a:r>
              <a:rPr lang="en-US" altLang="zh-CN" sz="2400" dirty="0"/>
              <a:t>,</a:t>
            </a:r>
            <a:r>
              <a:rPr lang="zh-CN" altLang="en-US" sz="2400" dirty="0"/>
              <a:t>再通过发射镜将光束进一步准直为</a:t>
            </a:r>
            <a:r>
              <a:rPr lang="en-US" altLang="zh-CN" sz="2400" dirty="0"/>
              <a:t>μrad </a:t>
            </a:r>
            <a:r>
              <a:rPr lang="zh-CN" altLang="en-US" sz="2400" dirty="0"/>
              <a:t>级光束。</a:t>
            </a:r>
            <a:endParaRPr lang="zh-CN" altLang="en-US" sz="2400" dirty="0"/>
          </a:p>
          <a:p>
            <a:pPr>
              <a:lnSpc>
                <a:spcPct val="150000"/>
              </a:lnSpc>
              <a:buNone/>
            </a:pPr>
            <a:r>
              <a:rPr lang="zh-CN" altLang="en-US" sz="2400" dirty="0"/>
              <a:t>　　</a:t>
            </a:r>
            <a:r>
              <a:rPr lang="en-US" altLang="zh-CN" sz="2400" dirty="0"/>
              <a:t>(2) </a:t>
            </a:r>
            <a:r>
              <a:rPr lang="zh-CN" altLang="en-US" sz="2400" dirty="0"/>
              <a:t>接收端的接收天线将空间传播的光场收集并汇聚到探测器表面</a:t>
            </a:r>
            <a:r>
              <a:rPr lang="en-US" altLang="zh-CN" sz="2400" dirty="0"/>
              <a:t>,</a:t>
            </a:r>
            <a:r>
              <a:rPr lang="zh-CN" altLang="en-US" sz="2400" dirty="0"/>
              <a:t>接收天线的效率和尺寸对系统接收光功率的能力有重要影响。目前</a:t>
            </a:r>
            <a:r>
              <a:rPr lang="en-US" altLang="zh-CN" sz="2400" dirty="0"/>
              <a:t>,</a:t>
            </a:r>
            <a:r>
              <a:rPr lang="zh-CN" altLang="en-US" sz="2400" dirty="0"/>
              <a:t>该系统的天线直径为几厘米到</a:t>
            </a:r>
            <a:r>
              <a:rPr lang="en-US" altLang="zh-CN" sz="2400" dirty="0"/>
              <a:t>25 cm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pic>
        <p:nvPicPr>
          <p:cNvPr id="22532" name="图片 22531" descr="AQV0%AMVRVPQA%9MF06ML}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348" y="897255"/>
            <a:ext cx="5545137" cy="1528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3554" name="标题 1"/>
          <p:cNvSpPr>
            <a:spLocks noGrp="1"/>
          </p:cNvSpPr>
          <p:nvPr>
            <p:ph type="title" idx="4294967295"/>
          </p:nvPr>
        </p:nvSpPr>
        <p:spPr>
          <a:xfrm>
            <a:off x="612775" y="672783"/>
            <a:ext cx="7251700" cy="589280"/>
          </a:xfrm>
        </p:spPr>
        <p:txBody>
          <a:bodyPr vert="horz" wrap="square" anchor="b">
            <a:spAutoFit/>
          </a:bodyPr>
          <a:p>
            <a:pPr algn="l"/>
            <a:r>
              <a:rPr lang="zh-CN" altLang="en-US" sz="3600" dirty="0">
                <a:solidFill>
                  <a:srgbClr val="000000"/>
                </a:solidFill>
              </a:rPr>
              <a:t>大气信道的研究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sp>
        <p:nvSpPr>
          <p:cNvPr id="23555" name="内容占位符 2"/>
          <p:cNvSpPr>
            <a:spLocks noGrp="1"/>
          </p:cNvSpPr>
          <p:nvPr>
            <p:ph sz="quarter" idx="1"/>
          </p:nvPr>
        </p:nvSpPr>
        <p:spPr>
          <a:xfrm>
            <a:off x="395288" y="1484313"/>
            <a:ext cx="7467600" cy="3457575"/>
          </a:xfrm>
        </p:spPr>
        <p:txBody>
          <a:bodyPr vert="horz" wrap="square" anchor="t">
            <a:normAutofit fontScale="90000"/>
          </a:bodyPr>
          <a:lstStyle>
            <a:lvl1pPr lvl="0">
              <a:buClrTx/>
              <a:buSzTx/>
              <a:buFontTx/>
              <a:defRPr sz="2400"/>
            </a:lvl1pPr>
            <a:lvl2pPr lvl="1">
              <a:buClrTx/>
              <a:buSzTx/>
              <a:buFontTx/>
              <a:defRPr sz="2000"/>
            </a:lvl2pPr>
            <a:lvl3pPr lvl="2">
              <a:buClrTx/>
              <a:buSzTx/>
              <a:buFontTx/>
              <a:defRPr sz="1800"/>
            </a:lvl3pPr>
            <a:lvl4pPr lvl="3">
              <a:buClrTx/>
              <a:buSzTx/>
              <a:buFontTx/>
              <a:defRPr sz="1600"/>
            </a:lvl4pPr>
            <a:lvl5pPr lvl="4">
              <a:buClrTx/>
              <a:buSzTx/>
              <a:buFontTx/>
              <a:defRPr sz="1600"/>
            </a:lvl5pPr>
          </a:lstStyle>
          <a:p>
            <a:pPr lvl="0">
              <a:lnSpc>
                <a:spcPct val="150000"/>
              </a:lnSpc>
              <a:buNone/>
            </a:pP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　            </a:t>
            </a:r>
            <a:endParaRPr lang="zh-CN" altLang="en-US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0">
              <a:lnSpc>
                <a:spcPct val="150000"/>
              </a:lnSpc>
              <a:buNone/>
            </a:pP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FSO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通信中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大气中的气体分子、水雾、雪、气溶胶等粒子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其几何尺寸与半导体激光的波长相近甚至更小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这会引起光的吸收、散射、折射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特别是在强急流的情况下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还可能发生波前畸变、强度抖动、多径衰减、云层遮断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光信号将受到严重干扰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甚至脱靶。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23556" name="灯片编号占位符 3"/>
          <p:cNvSpPr txBox="1">
            <a:spLocks noGrp="1"/>
          </p:cNvSpPr>
          <p:nvPr/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 eaLnBrk="1" hangingPunct="1"/>
            <a:fld id="{9A0DB2DC-4C9A-4742-B13C-FB6460FD3503}" type="slidenum">
              <a:rPr lang="en-US" altLang="zh-CN" sz="1400" b="1" dirty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578" name="标题 24577"/>
          <p:cNvSpPr/>
          <p:nvPr>
            <p:ph type="title"/>
          </p:nvPr>
        </p:nvSpPr>
        <p:spPr>
          <a:xfrm>
            <a:off x="323850" y="0"/>
            <a:ext cx="7467600" cy="1143000"/>
          </a:xfrm>
        </p:spPr>
        <p:txBody>
          <a:bodyPr wrap="square" anchor="ctr">
            <a:spAutoFit/>
          </a:bodyPr>
          <a:p>
            <a:pPr algn="l"/>
            <a:r>
              <a:rPr lang="zh-CN" altLang="en-US" dirty="0">
                <a:solidFill>
                  <a:srgbClr val="000000"/>
                </a:solidFill>
              </a:rPr>
              <a:t>大气中的粒子引起的散射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4579" name="图片 24578" descr="845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628775"/>
            <a:ext cx="7489825" cy="44275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5602" name="标题 25601"/>
          <p:cNvSpPr/>
          <p:nvPr>
            <p:ph type="title"/>
          </p:nvPr>
        </p:nvSpPr>
        <p:spPr>
          <a:xfrm>
            <a:off x="550863" y="365125"/>
            <a:ext cx="8147050" cy="565150"/>
          </a:xfrm>
        </p:spPr>
        <p:txBody>
          <a:bodyPr wrap="square" anchor="ctr">
            <a:spAutoFit/>
          </a:bodyPr>
          <a:p>
            <a:pPr algn="l"/>
            <a:r>
              <a:rPr lang="zh-CN" altLang="en-US" dirty="0">
                <a:solidFill>
                  <a:srgbClr val="000000"/>
                </a:solidFill>
              </a:rPr>
              <a:t>天气对通信的影响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5603" name="文本占位符 25602"/>
          <p:cNvPicPr>
            <a:picLocks noChangeAspect="1"/>
          </p:cNvPicPr>
          <p:nvPr>
            <p:ph type="body" idx="1"/>
          </p:nvPr>
        </p:nvPicPr>
        <p:blipFill>
          <a:blip r:embed="rId1"/>
          <a:stretch>
            <a:fillRect/>
          </a:stretch>
        </p:blipFill>
        <p:spPr>
          <a:xfrm>
            <a:off x="684213" y="1628775"/>
            <a:ext cx="7056437" cy="4910138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626" name="标题 26625"/>
          <p:cNvSpPr/>
          <p:nvPr>
            <p:ph type="title"/>
          </p:nvPr>
        </p:nvSpPr>
        <p:spPr>
          <a:xfrm>
            <a:off x="628650" y="733268"/>
            <a:ext cx="7886700" cy="589280"/>
          </a:xfrm>
        </p:spPr>
        <p:txBody>
          <a:bodyPr wrap="square" anchor="ctr">
            <a:spAutoFit/>
          </a:bodyPr>
          <a:p>
            <a:pPr algn="ctr"/>
            <a:r>
              <a:rPr lang="zh-CN" altLang="en-US" sz="3600" dirty="0">
                <a:solidFill>
                  <a:srgbClr val="7030A0"/>
                </a:solidFill>
              </a:rPr>
              <a:t>解决方法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sp>
        <p:nvSpPr>
          <p:cNvPr id="26627" name="文本占位符 26626"/>
          <p:cNvSpPr/>
          <p:nvPr>
            <p:ph type="body" idx="1"/>
          </p:nvPr>
        </p:nvSpPr>
        <p:spPr>
          <a:xfrm>
            <a:off x="390525" y="1825625"/>
            <a:ext cx="8124825" cy="4351655"/>
          </a:xfrm>
        </p:spPr>
        <p:txBody>
          <a:bodyPr/>
          <a:p>
            <a:pPr>
              <a:lnSpc>
                <a:spcPct val="150000"/>
              </a:lnSpc>
              <a:buNone/>
            </a:pPr>
            <a:r>
              <a:rPr lang="zh-CN" altLang="en-US" sz="2400" dirty="0"/>
              <a:t>          在有雾的天气一般采用增大发射功率的办法</a:t>
            </a:r>
            <a:r>
              <a:rPr lang="en-US" altLang="zh-CN" sz="2400" dirty="0"/>
              <a:t>,</a:t>
            </a:r>
            <a:r>
              <a:rPr lang="zh-CN" altLang="en-US" sz="2400" dirty="0"/>
              <a:t>因此多选用</a:t>
            </a:r>
            <a:r>
              <a:rPr lang="en-US" altLang="zh-CN" sz="2400" dirty="0"/>
              <a:t>1 550 nm </a:t>
            </a:r>
            <a:r>
              <a:rPr lang="zh-CN" altLang="en-US" sz="2400" dirty="0"/>
              <a:t>波长设备</a:t>
            </a:r>
            <a:r>
              <a:rPr lang="en-US" altLang="zh-CN" sz="2400" dirty="0"/>
              <a:t>,</a:t>
            </a:r>
            <a:r>
              <a:rPr lang="zh-CN" altLang="en-US" sz="2400" dirty="0"/>
              <a:t>运营商需要根据当地的气候特点确定合适的通信距离。针对设备可靠性的解决方案</a:t>
            </a:r>
            <a:r>
              <a:rPr lang="en-US" altLang="zh-CN" sz="2400" dirty="0"/>
              <a:t>,</a:t>
            </a:r>
            <a:r>
              <a:rPr lang="zh-CN" altLang="en-US" sz="2400" dirty="0"/>
              <a:t>采用不需许可证的微波作为备份节点</a:t>
            </a:r>
            <a:r>
              <a:rPr lang="en-US" altLang="zh-CN" sz="2400" dirty="0"/>
              <a:t>,</a:t>
            </a:r>
            <a:r>
              <a:rPr lang="zh-CN" altLang="en-US" sz="2400" dirty="0"/>
              <a:t>特别是在网状结构的重要地点</a:t>
            </a:r>
            <a:r>
              <a:rPr lang="en-US" altLang="zh-CN" sz="2400" dirty="0"/>
              <a:t>,</a:t>
            </a:r>
            <a:r>
              <a:rPr lang="zh-CN" altLang="en-US" sz="2400" dirty="0"/>
              <a:t>因为微波对雾的抗扰能力强</a:t>
            </a:r>
            <a:r>
              <a:rPr lang="en-US" altLang="zh-CN" sz="2400" dirty="0"/>
              <a:t>,</a:t>
            </a:r>
            <a:r>
              <a:rPr lang="zh-CN" altLang="en-US" sz="2400" dirty="0"/>
              <a:t>不过实际中只有很少的时间需要倒换到微波上。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7650" name="标题 27649"/>
          <p:cNvSpPr/>
          <p:nvPr>
            <p:ph type="title"/>
          </p:nvPr>
        </p:nvSpPr>
        <p:spPr>
          <a:xfrm>
            <a:off x="570865" y="441008"/>
            <a:ext cx="8002588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高灵敏度的信号探测和处理技术</a:t>
            </a:r>
            <a:endParaRPr lang="zh-CN" altLang="en-US" sz="360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7651" name="文本占位符 27650"/>
          <p:cNvSpPr/>
          <p:nvPr>
            <p:ph type="body" idx="1"/>
          </p:nvPr>
        </p:nvSpPr>
        <p:spPr>
          <a:xfrm>
            <a:off x="375920" y="1654175"/>
            <a:ext cx="8139430" cy="3792220"/>
          </a:xfrm>
        </p:spPr>
        <p:txBody>
          <a:bodyPr/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           FSO </a:t>
            </a:r>
            <a:r>
              <a:rPr lang="zh-CN" altLang="en-US" sz="2400" dirty="0"/>
              <a:t>系统中</a:t>
            </a:r>
            <a:r>
              <a:rPr lang="en-US" altLang="zh-CN" sz="2400" dirty="0"/>
              <a:t>,</a:t>
            </a:r>
            <a:r>
              <a:rPr lang="zh-CN" altLang="en-US" sz="2400" dirty="0"/>
              <a:t>激光束的强度是与距离的平方成反比</a:t>
            </a:r>
            <a:r>
              <a:rPr lang="en-US" altLang="zh-CN" sz="2400" dirty="0"/>
              <a:t>,</a:t>
            </a:r>
            <a:r>
              <a:rPr lang="zh-CN" altLang="en-US" sz="2400" dirty="0"/>
              <a:t>所以光接收机接收到的信号十分微弱</a:t>
            </a:r>
            <a:r>
              <a:rPr lang="en-US" altLang="zh-CN" sz="2400" dirty="0"/>
              <a:t>,</a:t>
            </a:r>
            <a:r>
              <a:rPr lang="zh-CN" altLang="en-US" sz="2400" dirty="0"/>
              <a:t>在高背景噪声场</a:t>
            </a:r>
            <a:r>
              <a:rPr lang="en-US" altLang="zh-CN" sz="2400" dirty="0"/>
              <a:t>(</a:t>
            </a:r>
            <a:r>
              <a:rPr lang="zh-CN" altLang="en-US" sz="2400" dirty="0"/>
              <a:t>如太阳光、月光、星光等</a:t>
            </a:r>
            <a:r>
              <a:rPr lang="en-US" altLang="zh-CN" sz="2400" dirty="0"/>
              <a:t>) </a:t>
            </a:r>
            <a:r>
              <a:rPr lang="zh-CN" altLang="en-US" sz="2400" dirty="0"/>
              <a:t>的干扰下</a:t>
            </a:r>
            <a:r>
              <a:rPr lang="en-US" altLang="zh-CN" sz="2400" dirty="0"/>
              <a:t>,</a:t>
            </a:r>
            <a:r>
              <a:rPr lang="zh-CN" altLang="en-US" sz="2400" dirty="0"/>
              <a:t>会导致接收端信噪比小于</a:t>
            </a:r>
            <a:r>
              <a:rPr lang="en-US" altLang="zh-CN" sz="2400" dirty="0"/>
              <a:t>1 ,</a:t>
            </a:r>
            <a:r>
              <a:rPr lang="zh-CN" altLang="en-US" sz="2400" dirty="0"/>
              <a:t>即信号淹没在噪声中。为快速、精确地捕获目标和接收信号</a:t>
            </a:r>
            <a:r>
              <a:rPr lang="en-US" altLang="zh-CN" sz="2400" dirty="0"/>
              <a:t>,</a:t>
            </a:r>
            <a:r>
              <a:rPr lang="zh-CN" altLang="en-US" sz="2400" dirty="0"/>
              <a:t>采取了表</a:t>
            </a:r>
            <a:r>
              <a:rPr lang="en-US" altLang="zh-CN" sz="2400" dirty="0"/>
              <a:t>3 </a:t>
            </a:r>
            <a:r>
              <a:rPr lang="zh-CN" altLang="en-US" sz="2400" dirty="0"/>
              <a:t>所示的提高接收灵敏度和信噪比的措施。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674" name="标题 28673"/>
          <p:cNvSpPr/>
          <p:nvPr>
            <p:ph type="title"/>
          </p:nvPr>
        </p:nvSpPr>
        <p:spPr/>
        <p:txBody>
          <a:bodyPr wrap="square" anchor="ctr">
            <a:spAutoFit/>
          </a:bodyPr>
          <a:p>
            <a:r>
              <a:rPr lang="zh-CN" altLang="en-US" dirty="0">
                <a:solidFill>
                  <a:srgbClr val="7030A0"/>
                </a:solidFill>
              </a:rPr>
              <a:t>解决方法</a:t>
            </a:r>
            <a:endParaRPr lang="zh-CN" altLang="en-US" dirty="0">
              <a:solidFill>
                <a:srgbClr val="7030A0"/>
              </a:solidFill>
            </a:endParaRPr>
          </a:p>
        </p:txBody>
      </p:sp>
      <p:pic>
        <p:nvPicPr>
          <p:cNvPr id="28675" name="图片 28674" descr="_]HU4@_C1_JQR}YWK](CWD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557338"/>
            <a:ext cx="7056437" cy="4578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698" name="标题 29697"/>
          <p:cNvSpPr/>
          <p:nvPr>
            <p:ph type="title"/>
          </p:nvPr>
        </p:nvSpPr>
        <p:spPr>
          <a:xfrm>
            <a:off x="180975" y="551498"/>
            <a:ext cx="8505825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dirty="0">
                <a:latin typeface="黑体" panose="02010609060101010101" pitchFamily="2" charset="-122"/>
              </a:rPr>
              <a:t>高精度的捕获、跟踪和瞄准( ATP) 技术</a:t>
            </a:r>
            <a:endParaRPr lang="zh-CN" altLang="en-US" sz="3600" dirty="0">
              <a:latin typeface="黑体" panose="02010609060101010101" pitchFamily="2" charset="-122"/>
            </a:endParaRPr>
          </a:p>
        </p:txBody>
      </p:sp>
      <p:sp>
        <p:nvSpPr>
          <p:cNvPr id="29699" name="文本占位符 29698"/>
          <p:cNvSpPr/>
          <p:nvPr>
            <p:ph type="body" idx="1"/>
          </p:nvPr>
        </p:nvSpPr>
        <p:spPr>
          <a:xfrm>
            <a:off x="319088" y="1695133"/>
            <a:ext cx="8229600" cy="4233862"/>
          </a:xfrm>
        </p:spPr>
        <p:txBody>
          <a:bodyPr/>
          <a:p>
            <a:pPr>
              <a:lnSpc>
                <a:spcPct val="150000"/>
              </a:lnSpc>
              <a:buNone/>
            </a:pPr>
            <a:r>
              <a:rPr lang="en-US" altLang="zh-CN" sz="2400" dirty="0"/>
              <a:t>        </a:t>
            </a:r>
            <a:r>
              <a:rPr lang="en-US" altLang="zh-CN" sz="2400" dirty="0">
                <a:latin typeface="黑体" panose="02010609060101010101" pitchFamily="2" charset="-122"/>
              </a:rPr>
              <a:t>ATP </a:t>
            </a:r>
            <a:r>
              <a:rPr lang="zh-CN" altLang="en-US" sz="2400" dirty="0">
                <a:latin typeface="黑体" panose="02010609060101010101" pitchFamily="2" charset="-122"/>
              </a:rPr>
              <a:t>主要解决收发双方光束彼此对准的问题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并且在整个通信过程中保持稳定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即在数据传输前发射器发送的光束对准接收机所在的方向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先探测对方发出的信标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依据接收的信标进行捕获和跟踪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然后回传信标给对方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系统便逐渐实现瞄准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最终双方建立光传输信道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实现双向通信。</a:t>
            </a:r>
            <a:endParaRPr lang="zh-CN" altLang="en-US" sz="2400" dirty="0">
              <a:latin typeface="黑体" panose="0201060906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latin typeface="黑体" panose="02010609060101010101" pitchFamily="2" charset="-122"/>
              </a:rPr>
              <a:t>     要求：</a:t>
            </a:r>
            <a:r>
              <a:rPr lang="en-US" altLang="zh-CN" sz="2400" dirty="0">
                <a:latin typeface="黑体" panose="02010609060101010101" pitchFamily="2" charset="-122"/>
              </a:rPr>
              <a:t>ATP </a:t>
            </a:r>
            <a:r>
              <a:rPr lang="zh-CN" altLang="en-US" sz="2400" dirty="0">
                <a:latin typeface="黑体" panose="02010609060101010101" pitchFamily="2" charset="-122"/>
              </a:rPr>
              <a:t>的跟踪精度优于</a:t>
            </a:r>
            <a:r>
              <a:rPr lang="en-US" altLang="zh-CN" sz="2400" dirty="0">
                <a:latin typeface="黑体" panose="02010609060101010101" pitchFamily="2" charset="-122"/>
              </a:rPr>
              <a:t>2 μrad , </a:t>
            </a:r>
            <a:r>
              <a:rPr lang="zh-CN" altLang="en-US" sz="2400" dirty="0">
                <a:latin typeface="黑体" panose="02010609060101010101" pitchFamily="2" charset="-122"/>
              </a:rPr>
              <a:t>瞄准精度优于</a:t>
            </a:r>
            <a:r>
              <a:rPr lang="en-US" altLang="zh-CN" sz="2400" dirty="0">
                <a:latin typeface="黑体" panose="02010609060101010101" pitchFamily="2" charset="-122"/>
              </a:rPr>
              <a:t>1μrad</a:t>
            </a:r>
            <a:r>
              <a:rPr lang="zh-CN" altLang="en-US" sz="2400" dirty="0">
                <a:latin typeface="黑体" panose="02010609060101010101" pitchFamily="2" charset="-122"/>
              </a:rPr>
              <a:t>。</a:t>
            </a:r>
            <a:endParaRPr lang="zh-CN" altLang="en-US" sz="2400" dirty="0">
              <a:latin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0722" name="文本占位符 30721"/>
          <p:cNvSpPr/>
          <p:nvPr>
            <p:ph type="body" idx="1"/>
          </p:nvPr>
        </p:nvSpPr>
        <p:spPr>
          <a:xfrm>
            <a:off x="664210" y="1207770"/>
            <a:ext cx="7467600" cy="4297363"/>
          </a:xfrm>
        </p:spPr>
        <p:txBody>
          <a:bodyPr/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latin typeface="黑体" panose="02010609060101010101" pitchFamily="2" charset="-122"/>
              </a:rPr>
              <a:t>            </a:t>
            </a:r>
            <a:endParaRPr lang="zh-CN" altLang="en-US" sz="2400" dirty="0">
              <a:latin typeface="黑体" panose="0201060906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latin typeface="黑体" panose="02010609060101010101" pitchFamily="2" charset="-122"/>
              </a:rPr>
              <a:t>    但经过空间信道的传输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光束会受到外界环境的影响而发生折射、反射和散射等现象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从而造成光信号衰减和失真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接收机必须准确捕获发射过来的光束</a:t>
            </a:r>
            <a:r>
              <a:rPr lang="en-US" altLang="zh-CN" sz="2400" dirty="0">
                <a:latin typeface="黑体" panose="02010609060101010101" pitchFamily="2" charset="-122"/>
              </a:rPr>
              <a:t>,</a:t>
            </a:r>
            <a:r>
              <a:rPr lang="zh-CN" altLang="en-US" sz="2400" dirty="0">
                <a:latin typeface="黑体" panose="02010609060101010101" pitchFamily="2" charset="-122"/>
              </a:rPr>
              <a:t>在整个通信过程中维持信号跟踪。</a:t>
            </a:r>
            <a:endParaRPr lang="zh-CN" altLang="en-US" sz="2400" dirty="0">
              <a:latin typeface="黑体" panose="02010609060101010101" pitchFamily="2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dirty="0">
              <a:latin typeface="黑体" panose="02010609060101010101" pitchFamily="2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dirty="0"/>
          </a:p>
          <a:p>
            <a:pPr>
              <a:lnSpc>
                <a:spcPct val="80000"/>
              </a:lnSpc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1746" name="标题 31745"/>
          <p:cNvSpPr/>
          <p:nvPr>
            <p:ph type="title"/>
          </p:nvPr>
        </p:nvSpPr>
        <p:spPr>
          <a:xfrm>
            <a:off x="250825" y="260350"/>
            <a:ext cx="7467600" cy="1143000"/>
          </a:xfrm>
        </p:spPr>
        <p:txBody>
          <a:bodyPr wrap="square" anchor="ctr">
            <a:spAutoFit/>
          </a:bodyPr>
          <a:p>
            <a:pPr algn="l"/>
            <a:r>
              <a:rPr lang="zh-CN" altLang="en-US" dirty="0">
                <a:solidFill>
                  <a:srgbClr val="7030A0"/>
                </a:solidFill>
              </a:rPr>
              <a:t>解决方法</a:t>
            </a:r>
            <a:br>
              <a:rPr lang="zh-CN" altLang="en-US" sz="3500" dirty="0"/>
            </a:br>
            <a:endParaRPr lang="zh-CN" altLang="en-US" sz="3500" dirty="0"/>
          </a:p>
        </p:txBody>
      </p:sp>
      <p:pic>
        <p:nvPicPr>
          <p:cNvPr id="31747" name="文本占位符 31746" descr="155-s"/>
          <p:cNvPicPr>
            <a:picLocks noChangeAspect="1"/>
          </p:cNvPicPr>
          <p:nvPr>
            <p:ph type="body" sz="half" idx="1"/>
          </p:nvPr>
        </p:nvPicPr>
        <p:blipFill>
          <a:blip r:embed="rId1"/>
          <a:stretch>
            <a:fillRect/>
          </a:stretch>
        </p:blipFill>
        <p:spPr>
          <a:xfrm>
            <a:off x="0" y="3725863"/>
            <a:ext cx="5435600" cy="3132137"/>
          </a:xfrm>
        </p:spPr>
      </p:pic>
      <p:sp>
        <p:nvSpPr>
          <p:cNvPr id="31748" name="文本占位符 31747"/>
          <p:cNvSpPr/>
          <p:nvPr>
            <p:ph type="body" sz="half" idx="2"/>
          </p:nvPr>
        </p:nvSpPr>
        <p:spPr>
          <a:xfrm>
            <a:off x="107633" y="1217613"/>
            <a:ext cx="4968875" cy="2160587"/>
          </a:xfrm>
        </p:spPr>
        <p:txBody>
          <a:bodyPr>
            <a:normAutofit fontScale="90000"/>
          </a:bodyPr>
          <a:p>
            <a:pPr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400" dirty="0"/>
              <a:t>           发送信号时由于外部不可避免的抖动会引起误差</a:t>
            </a:r>
            <a:r>
              <a:rPr lang="en-US" altLang="zh-CN" sz="2400" dirty="0"/>
              <a:t>,</a:t>
            </a:r>
            <a:r>
              <a:rPr lang="zh-CN" altLang="en-US" sz="2400" dirty="0"/>
              <a:t>因此引入自适应反馈控制系统对抖动引起的误差进行补偿</a:t>
            </a:r>
            <a:r>
              <a:rPr lang="en-US" altLang="zh-CN" sz="2400" dirty="0"/>
              <a:t>,</a:t>
            </a:r>
            <a:r>
              <a:rPr lang="zh-CN" altLang="en-US" sz="2400" dirty="0"/>
              <a:t>用该补偿信号来控制发射振镜系统。</a:t>
            </a:r>
            <a:endParaRPr lang="zh-CN" altLang="en-US" sz="2400" dirty="0"/>
          </a:p>
        </p:txBody>
      </p:sp>
      <p:pic>
        <p:nvPicPr>
          <p:cNvPr id="31749" name="图片 31748" descr="5151513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263" y="0"/>
            <a:ext cx="3995737" cy="3378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2770" name="标题 32769"/>
          <p:cNvSpPr/>
          <p:nvPr>
            <p:ph type="title"/>
          </p:nvPr>
        </p:nvSpPr>
        <p:spPr>
          <a:xfrm>
            <a:off x="628650" y="733268"/>
            <a:ext cx="7886700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dirty="0">
                <a:solidFill>
                  <a:srgbClr val="000000"/>
                </a:solidFill>
              </a:rPr>
              <a:t>空间分集技术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sp>
        <p:nvSpPr>
          <p:cNvPr id="32771" name="文本占位符 32770"/>
          <p:cNvSpPr/>
          <p:nvPr>
            <p:ph type="body" idx="1"/>
          </p:nvPr>
        </p:nvSpPr>
        <p:spPr>
          <a:xfrm>
            <a:off x="504190" y="1473835"/>
            <a:ext cx="8186420" cy="4351655"/>
          </a:xfrm>
        </p:spPr>
        <p:txBody>
          <a:bodyPr>
            <a:normAutofit fontScale="90000" lnSpcReduction="20000"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</a:rPr>
              <a:t>传统的</a:t>
            </a:r>
            <a:r>
              <a:rPr lang="en-US" altLang="zh-CN" sz="2400" dirty="0">
                <a:latin typeface="黑体" panose="02010609060101010101" pitchFamily="2" charset="-122"/>
              </a:rPr>
              <a:t>FSO</a:t>
            </a:r>
            <a:r>
              <a:rPr lang="zh-CN" altLang="en-US" sz="2400" dirty="0">
                <a:latin typeface="黑体" panose="02010609060101010101" pitchFamily="2" charset="-122"/>
              </a:rPr>
              <a:t>端对端通信，采用单发射器和唯一的接受天线，为了使激光发射器保持瞄准接收机激光探测器，必须保证激光发射器的光束发散角在几十个微弧度之内，但是经过几公里，会在接受机平面产生一个半径较大的光斑，但接收机的口径有限，只能接收到光斑的一部分能量，所以就产生了光能量的几何空间损耗，损耗的大小与发射光束的发散角，接受探测器孔径尺寸，通信距离以及瞄准偏差有关。</a:t>
            </a:r>
            <a:endParaRPr lang="zh-CN" altLang="en-US" sz="2400" dirty="0">
              <a:latin typeface="黑体" panose="0201060906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</a:rPr>
              <a:t>为了增大接受端的光能量，可以采用多发射端的空间分集技术来改善信噪比，降低误码率。</a:t>
            </a:r>
            <a:endParaRPr lang="zh-CN" altLang="en-US" sz="2400" dirty="0">
              <a:latin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3794" name="标题 33793"/>
          <p:cNvSpPr/>
          <p:nvPr>
            <p:ph type="title"/>
          </p:nvPr>
        </p:nvSpPr>
        <p:spPr>
          <a:xfrm>
            <a:off x="468630" y="526893"/>
            <a:ext cx="7886700" cy="589280"/>
          </a:xfrm>
        </p:spPr>
        <p:txBody>
          <a:bodyPr wrap="square" anchor="ctr">
            <a:spAutoFit/>
          </a:bodyPr>
          <a:p>
            <a:pPr algn="l"/>
            <a:r>
              <a:rPr lang="zh-CN" altLang="en-US" sz="3600" dirty="0">
                <a:solidFill>
                  <a:srgbClr val="000000"/>
                </a:solidFill>
              </a:rPr>
              <a:t>不分集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sp>
        <p:nvSpPr>
          <p:cNvPr id="33795" name="文本占位符 33794"/>
          <p:cNvSpPr/>
          <p:nvPr>
            <p:ph type="body" idx="1"/>
          </p:nvPr>
        </p:nvSpPr>
        <p:spPr>
          <a:xfrm>
            <a:off x="468313" y="1654175"/>
            <a:ext cx="8229600" cy="4368800"/>
          </a:xfrm>
        </p:spPr>
        <p:txBody>
          <a:bodyPr/>
          <a:p>
            <a:r>
              <a:rPr lang="zh-CN" altLang="en-US" sz="2400" dirty="0"/>
              <a:t>光斑面积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单位面积的光功率密度（</a:t>
            </a:r>
            <a:r>
              <a:rPr lang="en-US" altLang="zh-CN" sz="2400" dirty="0"/>
              <a:t>OPD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pic>
        <p:nvPicPr>
          <p:cNvPr id="33796" name="图片 33795" descr="UM6QX]4PC54WGX}%`_W4U0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8108" y="1337628"/>
            <a:ext cx="1152525" cy="8493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7" name="图片 33796" descr="XYLZ5(2TBV({@OFZWH@E65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520440"/>
            <a:ext cx="3671888" cy="1343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8" name="图片 33797" descr=")3C08XY`3{}ZI(QI[T0FL4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50" y="634048"/>
            <a:ext cx="5184775" cy="1728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9" name="图片 33798" descr="T@)1)VW{NM55MD9$5I~78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5518150"/>
            <a:ext cx="4826000" cy="446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4818" name="标题 34817"/>
          <p:cNvSpPr/>
          <p:nvPr>
            <p:ph type="title"/>
          </p:nvPr>
        </p:nvSpPr>
        <p:spPr/>
        <p:txBody>
          <a:bodyPr wrap="square" anchor="ctr">
            <a:spAutoFit/>
          </a:bodyPr>
          <a:p>
            <a:pPr algn="l"/>
            <a:r>
              <a:rPr lang="zh-CN" altLang="en-US" dirty="0">
                <a:solidFill>
                  <a:srgbClr val="000000"/>
                </a:solidFill>
              </a:rPr>
              <a:t>分集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4819" name="文本占位符 34818"/>
          <p:cNvSpPr/>
          <p:nvPr>
            <p:ph type="body" sz="half" idx="1"/>
          </p:nvPr>
        </p:nvSpPr>
        <p:spPr>
          <a:xfrm>
            <a:off x="396875" y="1844675"/>
            <a:ext cx="8002588" cy="1830388"/>
          </a:xfrm>
        </p:spPr>
        <p:txBody>
          <a:bodyPr/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400" dirty="0"/>
              <a:t>采用光分路将一束光将两个不同发射角的发射光束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进行光传输（如图）。</a:t>
            </a:r>
            <a:endParaRPr lang="zh-CN" altLang="en-US" sz="2400" dirty="0"/>
          </a:p>
        </p:txBody>
      </p:sp>
      <p:pic>
        <p:nvPicPr>
          <p:cNvPr id="34820" name="图片 34819" descr="2WL]_GT4WC6VTCLX}6WDYH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3429000"/>
            <a:ext cx="6031865" cy="2505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>
                <a:latin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842" name="文本占位符 35841"/>
          <p:cNvSpPr/>
          <p:nvPr>
            <p:ph type="body" sz="half" idx="1"/>
          </p:nvPr>
        </p:nvSpPr>
        <p:spPr>
          <a:xfrm>
            <a:off x="426403" y="1022668"/>
            <a:ext cx="8291512" cy="2692400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en-US" altLang="zh-CN" sz="2400" dirty="0">
                <a:latin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</a:rPr>
              <a:t>采用小发射角，</a:t>
            </a:r>
            <a:r>
              <a:rPr lang="en-US" altLang="zh-CN" sz="2400" dirty="0">
                <a:latin typeface="黑体" panose="02010609060101010101" pitchFamily="2" charset="-122"/>
              </a:rPr>
              <a:t>B</a:t>
            </a:r>
            <a:r>
              <a:rPr lang="zh-CN" altLang="en-US" sz="2400" dirty="0">
                <a:latin typeface="黑体" panose="02010609060101010101" pitchFamily="2" charset="-122"/>
              </a:rPr>
              <a:t>采用大发射角，</a:t>
            </a:r>
            <a:r>
              <a:rPr lang="en-US" altLang="zh-CN" sz="2400" dirty="0">
                <a:latin typeface="黑体" panose="02010609060101010101" pitchFamily="2" charset="-122"/>
              </a:rPr>
              <a:t>L</a:t>
            </a:r>
            <a:r>
              <a:rPr lang="zh-CN" altLang="en-US" sz="2400" dirty="0">
                <a:latin typeface="黑体" panose="02010609060101010101" pitchFamily="2" charset="-122"/>
              </a:rPr>
              <a:t>为最远传输距离，发射机移动的距离为</a:t>
            </a:r>
            <a:r>
              <a:rPr lang="en-US" altLang="zh-CN" sz="2400" dirty="0">
                <a:latin typeface="黑体" panose="02010609060101010101" pitchFamily="2" charset="-122"/>
              </a:rPr>
              <a:t>x</a:t>
            </a:r>
            <a:r>
              <a:rPr lang="zh-CN" altLang="en-US" sz="2400" dirty="0">
                <a:latin typeface="黑体" panose="02010609060101010101" pitchFamily="2" charset="-122"/>
              </a:rPr>
              <a:t>。当</a:t>
            </a:r>
            <a:r>
              <a:rPr lang="en-US" altLang="zh-CN" sz="2400" dirty="0">
                <a:latin typeface="黑体" panose="02010609060101010101" pitchFamily="2" charset="-122"/>
              </a:rPr>
              <a:t>L</a:t>
            </a:r>
            <a:r>
              <a:rPr lang="zh-CN" altLang="en-US" sz="2400" dirty="0">
                <a:latin typeface="黑体" panose="02010609060101010101" pitchFamily="2" charset="-122"/>
              </a:rPr>
              <a:t>变大时，由于两束光功率叠加避免远距离传输时接受光功率过小而难以探测；当</a:t>
            </a:r>
            <a:r>
              <a:rPr lang="en-US" altLang="zh-CN" sz="2400" dirty="0">
                <a:latin typeface="黑体" panose="02010609060101010101" pitchFamily="2" charset="-122"/>
              </a:rPr>
              <a:t>L</a:t>
            </a:r>
            <a:r>
              <a:rPr lang="zh-CN" altLang="en-US" sz="2400" dirty="0">
                <a:latin typeface="黑体" panose="02010609060101010101" pitchFamily="2" charset="-122"/>
              </a:rPr>
              <a:t>变小时，窄光束</a:t>
            </a:r>
            <a:r>
              <a:rPr lang="en-US" altLang="zh-CN" sz="2400" dirty="0">
                <a:latin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</a:rPr>
              <a:t>光斑面积随着变小，宽光束</a:t>
            </a:r>
            <a:r>
              <a:rPr lang="en-US" altLang="zh-CN" sz="2400" dirty="0">
                <a:latin typeface="黑体" panose="02010609060101010101" pitchFamily="2" charset="-122"/>
              </a:rPr>
              <a:t>B</a:t>
            </a:r>
            <a:r>
              <a:rPr lang="zh-CN" altLang="en-US" sz="2400" dirty="0">
                <a:latin typeface="黑体" panose="02010609060101010101" pitchFamily="2" charset="-122"/>
              </a:rPr>
              <a:t>尽可能取得最大避免光斑过小受不到不可预知震动而失去链路。</a:t>
            </a:r>
            <a:endParaRPr lang="zh-CN" altLang="en-US" sz="2400" dirty="0">
              <a:latin typeface="黑体" panose="02010609060101010101" pitchFamily="2" charset="-122"/>
            </a:endParaRPr>
          </a:p>
          <a:p>
            <a:pPr>
              <a:buClrTx/>
              <a:buSzTx/>
              <a:buFontTx/>
            </a:pPr>
            <a:endParaRPr lang="zh-CN" altLang="en-US" sz="2400" dirty="0"/>
          </a:p>
        </p:txBody>
      </p:sp>
      <p:pic>
        <p:nvPicPr>
          <p:cNvPr id="35843" name="内容占位符 35842" descr="5%]%W2T@DJ`W@T2KN)ET4B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973138" y="4438650"/>
            <a:ext cx="7056437" cy="1971675"/>
          </a:xfr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mZkMjMwYjY1ZWU2NzQyNjQwY2Y4MWZiY2VjZjE1OD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2638</Words>
  <Application>WPS 演示</Application>
  <PresentationFormat>全屏显示(4:3)</PresentationFormat>
  <Paragraphs>236</Paragraphs>
  <Slides>24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63" baseType="lpstr">
      <vt:lpstr>Arial</vt:lpstr>
      <vt:lpstr>宋体</vt:lpstr>
      <vt:lpstr>Wingdings</vt:lpstr>
      <vt:lpstr>DejaVu Sans</vt:lpstr>
      <vt:lpstr>Times New Roman</vt:lpstr>
      <vt:lpstr>Noto Serif CJK SC</vt:lpstr>
      <vt:lpstr>方正姚体</vt:lpstr>
      <vt:lpstr>文泉驿微米黑</vt:lpstr>
      <vt:lpstr>楷体</vt:lpstr>
      <vt:lpstr>仿宋</vt:lpstr>
      <vt:lpstr>Wingdings</vt:lpstr>
      <vt:lpstr>微软雅黑</vt:lpstr>
      <vt:lpstr>宋体</vt:lpstr>
      <vt:lpstr>Arial Unicode MS</vt:lpstr>
      <vt:lpstr>等线 Light</vt:lpstr>
      <vt:lpstr>C059</vt:lpstr>
      <vt:lpstr>Calibri Light</vt:lpstr>
      <vt:lpstr>等线</vt:lpstr>
      <vt:lpstr>Calibri</vt:lpstr>
      <vt:lpstr>黑体</vt:lpstr>
      <vt:lpstr>Noto Sans CJK SC</vt:lpstr>
      <vt:lpstr>华文仿宋</vt:lpstr>
      <vt:lpstr>Century Schoolbook</vt:lpstr>
      <vt:lpstr>Arial Unicode MS</vt:lpstr>
      <vt:lpstr>Noto Color Emoji</vt:lpstr>
      <vt:lpstr>华文新魏</vt:lpstr>
      <vt:lpstr>PingFang SC</vt:lpstr>
      <vt:lpstr>华文楷体</vt:lpstr>
      <vt:lpstr>等线</vt:lpstr>
      <vt:lpstr>仿宋_GB2312</vt:lpstr>
      <vt:lpstr>Lucida Sans Unicode</vt:lpstr>
      <vt:lpstr>Century Gothic</vt:lpstr>
      <vt:lpstr>FreeSans</vt:lpstr>
      <vt:lpstr>汉仪中圆B5</vt:lpstr>
      <vt:lpstr>楷体_GB2312</vt:lpstr>
      <vt:lpstr>方正仿宋_GBK</vt:lpstr>
      <vt:lpstr>Noto Looped Lao Bold</vt:lpstr>
      <vt:lpstr>FreeSerif</vt:lpstr>
      <vt:lpstr>Office 主题​​</vt:lpstr>
      <vt:lpstr>PowerPoint 演示文稿</vt:lpstr>
      <vt:lpstr>PowerPoint 演示文稿</vt:lpstr>
      <vt:lpstr>什么是光通信？</vt:lpstr>
      <vt:lpstr>PowerPoint 演示文稿</vt:lpstr>
      <vt:lpstr>PowerPoint 演示文稿</vt:lpstr>
      <vt:lpstr>FSO</vt:lpstr>
      <vt:lpstr>PowerPoint 演示文稿</vt:lpstr>
      <vt:lpstr>FSO的关键技术</vt:lpstr>
      <vt:lpstr>  高功率激光光源技术</vt:lpstr>
      <vt:lpstr>选取1550nm的光源</vt:lpstr>
      <vt:lpstr>光收发天线和精密可靠的光束控制技术</vt:lpstr>
      <vt:lpstr>大气信道的研究</vt:lpstr>
      <vt:lpstr>大气中的粒子引起的散射</vt:lpstr>
      <vt:lpstr>天气对通信的影响</vt:lpstr>
      <vt:lpstr>解决方法</vt:lpstr>
      <vt:lpstr>高灵敏度的信号探测和处理技术</vt:lpstr>
      <vt:lpstr>解决方法</vt:lpstr>
      <vt:lpstr>高精度的捕获、跟踪和瞄准( ATP) 技术</vt:lpstr>
      <vt:lpstr>PowerPoint 演示文稿</vt:lpstr>
      <vt:lpstr>解决方法 </vt:lpstr>
      <vt:lpstr>空间分集技术</vt:lpstr>
      <vt:lpstr>不分集</vt:lpstr>
      <vt:lpstr>分集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miduoduo</dc:creator>
  <cp:lastModifiedBy>cx33071</cp:lastModifiedBy>
  <cp:revision>440</cp:revision>
  <dcterms:created xsi:type="dcterms:W3CDTF">2026-06-28T09:32:35Z</dcterms:created>
  <dcterms:modified xsi:type="dcterms:W3CDTF">2026-06-28T09:32:35Z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2052-12.1.2.23578</vt:lpwstr>
  </property>
  <property fmtid="{D5CDD505-2E9C-101B-9397-08002B2CF9AE}" pid="3" name="ICV">
    <vt:lpwstr>731B4442FF9A48539920DACD6DD54EE9_12</vt:lpwstr>
  </property>
</Properties>
</file>